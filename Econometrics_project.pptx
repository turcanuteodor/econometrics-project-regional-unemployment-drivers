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handoutMasterIdLst>
    <p:handoutMasterId r:id="rId25"/>
  </p:handoutMasterIdLst>
  <p:sldIdLst>
    <p:sldId id="256" r:id="rId5"/>
    <p:sldId id="257" r:id="rId6"/>
    <p:sldId id="258" r:id="rId7"/>
    <p:sldId id="259" r:id="rId8"/>
    <p:sldId id="260" r:id="rId9"/>
    <p:sldId id="261" r:id="rId10"/>
    <p:sldId id="280" r:id="rId11"/>
    <p:sldId id="262" r:id="rId12"/>
    <p:sldId id="263" r:id="rId13"/>
    <p:sldId id="276" r:id="rId14"/>
    <p:sldId id="264" r:id="rId15"/>
    <p:sldId id="265" r:id="rId16"/>
    <p:sldId id="267" r:id="rId17"/>
    <p:sldId id="277" r:id="rId18"/>
    <p:sldId id="278" r:id="rId19"/>
    <p:sldId id="279" r:id="rId20"/>
    <p:sldId id="268" r:id="rId21"/>
    <p:sldId id="269" r:id="rId22"/>
    <p:sldId id="271" r:id="rId2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5" d="100"/>
          <a:sy n="65" d="100"/>
        </p:scale>
        <p:origin x="48" y="542"/>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1/5/2026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1/5/2026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smtClean="0"/>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smtClean="0"/>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1/5/2026</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1/5/2026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smtClean="0"/>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1/5/2026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1/5/2026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1/5/2026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1/5/2026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1/5/2026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1/5/2026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smtClean="0"/>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1/5/2026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1/5/2026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1/5/2026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1/5/2026</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5175" y="772332"/>
            <a:ext cx="8735325" cy="2872692"/>
          </a:xfrm>
        </p:spPr>
        <p:txBody>
          <a:bodyPr>
            <a:normAutofit/>
          </a:bodyPr>
          <a:lstStyle/>
          <a:p>
            <a:r>
              <a:rPr lang="en-US" sz="6000" b="1" dirty="0">
                <a:ln>
                  <a:solidFill>
                    <a:schemeClr val="bg1"/>
                  </a:solidFill>
                </a:ln>
                <a:effectLst>
                  <a:outerShdw blurRad="50800" dist="38100" dir="8100000" algn="tr" rotWithShape="0">
                    <a:prstClr val="black">
                      <a:alpha val="40000"/>
                    </a:prstClr>
                  </a:outerShdw>
                </a:effectLst>
                <a:latin typeface="Bahnschrift" panose="020B0502040204020203" pitchFamily="34" charset="0"/>
                <a:cs typeface="Times New Roman" panose="02020603050405020304" pitchFamily="18" charset="0"/>
              </a:rPr>
              <a:t>Determinants of Regional Unemployment in EU NUTS2 </a:t>
            </a:r>
            <a:r>
              <a:rPr lang="en-US" sz="6000" b="1" dirty="0" smtClean="0">
                <a:ln>
                  <a:solidFill>
                    <a:schemeClr val="bg1"/>
                  </a:solidFill>
                </a:ln>
                <a:effectLst>
                  <a:outerShdw blurRad="50800" dist="38100" dir="8100000" algn="tr" rotWithShape="0">
                    <a:prstClr val="black">
                      <a:alpha val="40000"/>
                    </a:prstClr>
                  </a:outerShdw>
                </a:effectLst>
                <a:latin typeface="Bahnschrift" panose="020B0502040204020203" pitchFamily="34" charset="0"/>
                <a:cs typeface="Times New Roman" panose="02020603050405020304" pitchFamily="18" charset="0"/>
              </a:rPr>
              <a:t>Regions</a:t>
            </a:r>
            <a:endParaRPr lang="en-US" sz="6000" dirty="0">
              <a:latin typeface="Bahnschrift" panose="020B0502040204020203" pitchFamily="34" charset="0"/>
            </a:endParaRPr>
          </a:p>
        </p:txBody>
      </p:sp>
      <p:sp>
        <p:nvSpPr>
          <p:cNvPr id="3" name="Subtitle 2"/>
          <p:cNvSpPr>
            <a:spLocks noGrp="1"/>
          </p:cNvSpPr>
          <p:nvPr>
            <p:ph type="subTitle" idx="1"/>
          </p:nvPr>
        </p:nvSpPr>
        <p:spPr>
          <a:xfrm>
            <a:off x="1625175" y="3933056"/>
            <a:ext cx="8735325" cy="1872208"/>
          </a:xfrm>
        </p:spPr>
        <p:txBody>
          <a:bodyPr>
            <a:normAutofit fontScale="92500" lnSpcReduction="10000"/>
          </a:bodyPr>
          <a:lstStyle/>
          <a:p>
            <a:pPr>
              <a:lnSpc>
                <a:spcPct val="100000"/>
              </a:lnSpc>
            </a:pPr>
            <a:r>
              <a:rPr lang="en-US" b="1" dirty="0">
                <a:latin typeface="Bahnschrift" panose="020B0502040204020203" pitchFamily="34" charset="0"/>
              </a:rPr>
              <a:t>From Group 1107:</a:t>
            </a:r>
          </a:p>
          <a:p>
            <a:pPr>
              <a:lnSpc>
                <a:spcPct val="100000"/>
              </a:lnSpc>
            </a:pPr>
            <a:r>
              <a:rPr lang="en-US" sz="2600" dirty="0" err="1">
                <a:latin typeface="Bahnschrift" panose="020B0502040204020203" pitchFamily="34" charset="0"/>
              </a:rPr>
              <a:t>Radu</a:t>
            </a:r>
            <a:r>
              <a:rPr lang="en-US" sz="2600" dirty="0">
                <a:latin typeface="Bahnschrift" panose="020B0502040204020203" pitchFamily="34" charset="0"/>
              </a:rPr>
              <a:t> </a:t>
            </a:r>
            <a:r>
              <a:rPr lang="en-US" sz="2600" dirty="0" smtClean="0">
                <a:latin typeface="Bahnschrift" panose="020B0502040204020203" pitchFamily="34" charset="0"/>
              </a:rPr>
              <a:t>Bogdan</a:t>
            </a:r>
          </a:p>
          <a:p>
            <a:pPr>
              <a:lnSpc>
                <a:spcPct val="100000"/>
              </a:lnSpc>
            </a:pPr>
            <a:r>
              <a:rPr lang="en-US" sz="2600" dirty="0" err="1" smtClean="0">
                <a:latin typeface="Bahnschrift" panose="020B0502040204020203" pitchFamily="34" charset="0"/>
              </a:rPr>
              <a:t>Tulea</a:t>
            </a:r>
            <a:r>
              <a:rPr lang="en-US" sz="2600" dirty="0" smtClean="0">
                <a:latin typeface="Bahnschrift" panose="020B0502040204020203" pitchFamily="34" charset="0"/>
              </a:rPr>
              <a:t> </a:t>
            </a:r>
            <a:r>
              <a:rPr lang="en-US" sz="2600" dirty="0">
                <a:latin typeface="Bahnschrift" panose="020B0502040204020203" pitchFamily="34" charset="0"/>
              </a:rPr>
              <a:t>Teodora Florina</a:t>
            </a:r>
          </a:p>
          <a:p>
            <a:pPr>
              <a:lnSpc>
                <a:spcPct val="100000"/>
              </a:lnSpc>
            </a:pPr>
            <a:r>
              <a:rPr lang="en-US" sz="2600" dirty="0" err="1" smtClean="0">
                <a:latin typeface="Bahnschrift" panose="020B0502040204020203" pitchFamily="34" charset="0"/>
              </a:rPr>
              <a:t>Turcanu</a:t>
            </a:r>
            <a:r>
              <a:rPr lang="en-US" sz="2600" dirty="0" smtClean="0">
                <a:latin typeface="Bahnschrift" panose="020B0502040204020203" pitchFamily="34" charset="0"/>
              </a:rPr>
              <a:t> </a:t>
            </a:r>
            <a:r>
              <a:rPr lang="en-US" sz="2600" dirty="0" err="1">
                <a:latin typeface="Bahnschrift" panose="020B0502040204020203" pitchFamily="34" charset="0"/>
              </a:rPr>
              <a:t>Teodor</a:t>
            </a:r>
            <a:endParaRPr lang="en-US" sz="2600" dirty="0">
              <a:latin typeface="Bahnschrift" panose="020B0502040204020203" pitchFamily="34" charset="0"/>
            </a:endParaRPr>
          </a:p>
          <a:p>
            <a:pPr>
              <a:lnSpc>
                <a:spcPct val="100000"/>
              </a:lnSpc>
            </a:pPr>
            <a:r>
              <a:rPr lang="en-US" sz="2600" dirty="0" err="1">
                <a:latin typeface="Bahnschrift" panose="020B0502040204020203" pitchFamily="34" charset="0"/>
              </a:rPr>
              <a:t>Ticu-Jianu</a:t>
            </a:r>
            <a:r>
              <a:rPr lang="en-US" sz="2600" dirty="0">
                <a:latin typeface="Bahnschrift" panose="020B0502040204020203" pitchFamily="34" charset="0"/>
              </a:rPr>
              <a:t> Eduard</a:t>
            </a:r>
          </a:p>
          <a:p>
            <a:endParaRPr lang="en-US" dirty="0"/>
          </a:p>
        </p:txBody>
      </p:sp>
    </p:spTree>
    <p:extLst>
      <p:ext uri="{BB962C8B-B14F-4D97-AF65-F5344CB8AC3E}">
        <p14:creationId xmlns:p14="http://schemas.microsoft.com/office/powerpoint/2010/main" val="120585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panose="020B0502040204020203" pitchFamily="34" charset="0"/>
              </a:rPr>
              <a:t>1. Introduction</a:t>
            </a:r>
            <a:endParaRPr lang="en-US" dirty="0">
              <a:latin typeface="Bahnschrift" panose="020B0502040204020203" pitchFamily="34" charset="0"/>
            </a:endParaRPr>
          </a:p>
        </p:txBody>
      </p:sp>
      <p:sp>
        <p:nvSpPr>
          <p:cNvPr id="3" name="Content Placeholder 2"/>
          <p:cNvSpPr>
            <a:spLocks noGrp="1"/>
          </p:cNvSpPr>
          <p:nvPr>
            <p:ph idx="1"/>
          </p:nvPr>
        </p:nvSpPr>
        <p:spPr>
          <a:xfrm>
            <a:off x="1218883" y="1700808"/>
            <a:ext cx="10360501" cy="4462272"/>
          </a:xfrm>
        </p:spPr>
        <p:txBody>
          <a:bodyPr/>
          <a:lstStyle/>
          <a:p>
            <a:r>
              <a:rPr lang="en-US" dirty="0">
                <a:latin typeface="Bahnschrift" panose="020B0502040204020203" pitchFamily="34" charset="0"/>
              </a:rPr>
              <a:t>Regional unemployment differs </a:t>
            </a:r>
            <a:r>
              <a:rPr lang="en-US" dirty="0" smtClean="0">
                <a:latin typeface="Bahnschrift" panose="020B0502040204020203" pitchFamily="34" charset="0"/>
              </a:rPr>
              <a:t>across </a:t>
            </a:r>
            <a:r>
              <a:rPr lang="en-US" dirty="0">
                <a:latin typeface="Bahnschrift" panose="020B0502040204020203" pitchFamily="34" charset="0"/>
              </a:rPr>
              <a:t>European Union regions, even within the same country. These disparities may be linked to differences in economic development, human capital, and regional structural characteristics.</a:t>
            </a:r>
          </a:p>
          <a:p>
            <a:r>
              <a:rPr lang="en-US" dirty="0" smtClean="0">
                <a:latin typeface="Bahnschrift" panose="020B0502040204020203" pitchFamily="34" charset="0"/>
              </a:rPr>
              <a:t>The project aims to investigate whether unemployment differences across NUTS2 regions in Romania, Bulgaria </a:t>
            </a:r>
            <a:r>
              <a:rPr lang="en-US" dirty="0">
                <a:latin typeface="Bahnschrift" panose="020B0502040204020203" pitchFamily="34" charset="0"/>
              </a:rPr>
              <a:t>and </a:t>
            </a:r>
            <a:r>
              <a:rPr lang="en-US" dirty="0" smtClean="0">
                <a:latin typeface="Bahnschrift" panose="020B0502040204020203" pitchFamily="34" charset="0"/>
              </a:rPr>
              <a:t>Poland </a:t>
            </a:r>
            <a:r>
              <a:rPr lang="en-US" dirty="0">
                <a:latin typeface="Bahnschrift" panose="020B0502040204020203" pitchFamily="34" charset="0"/>
              </a:rPr>
              <a:t>can be explained by regional economic, educational, and demographic factors using a multiple linear regression model.</a:t>
            </a:r>
          </a:p>
        </p:txBody>
      </p:sp>
    </p:spTree>
    <p:extLst>
      <p:ext uri="{BB962C8B-B14F-4D97-AF65-F5344CB8AC3E}">
        <p14:creationId xmlns:p14="http://schemas.microsoft.com/office/powerpoint/2010/main" val="312939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panose="020B0502040204020203" pitchFamily="34" charset="0"/>
              </a:rPr>
              <a:t>2. Literature Review</a:t>
            </a:r>
            <a:endParaRPr lang="en-US" dirty="0">
              <a:latin typeface="Bahnschrift" panose="020B0502040204020203" pitchFamily="34" charset="0"/>
            </a:endParaRPr>
          </a:p>
        </p:txBody>
      </p:sp>
      <p:sp>
        <p:nvSpPr>
          <p:cNvPr id="3" name="Content Placeholder 2"/>
          <p:cNvSpPr>
            <a:spLocks noGrp="1"/>
          </p:cNvSpPr>
          <p:nvPr>
            <p:ph idx="1"/>
          </p:nvPr>
        </p:nvSpPr>
        <p:spPr>
          <a:xfrm>
            <a:off x="1218883" y="1700808"/>
            <a:ext cx="10360501" cy="4896544"/>
          </a:xfrm>
        </p:spPr>
        <p:txBody>
          <a:bodyPr>
            <a:normAutofit/>
          </a:bodyPr>
          <a:lstStyle/>
          <a:p>
            <a:r>
              <a:rPr lang="en-US" dirty="0">
                <a:latin typeface="Bahnschrift" panose="020B0502040204020203" pitchFamily="34" charset="0"/>
              </a:rPr>
              <a:t>Previous studies show that regional unemployment differences are mainly related to economic development and labor market structure. </a:t>
            </a:r>
            <a:r>
              <a:rPr lang="en-US" dirty="0" err="1">
                <a:latin typeface="Bahnschrift" panose="020B0502040204020203" pitchFamily="34" charset="0"/>
              </a:rPr>
              <a:t>Elhorst</a:t>
            </a:r>
            <a:r>
              <a:rPr lang="en-US" dirty="0">
                <a:latin typeface="Bahnschrift" panose="020B0502040204020203" pitchFamily="34" charset="0"/>
              </a:rPr>
              <a:t> (2003) explains that unemployment disparities across regions are not random, but depend on local economic conditions and labor demand.</a:t>
            </a:r>
          </a:p>
          <a:p>
            <a:r>
              <a:rPr lang="en-US" dirty="0">
                <a:latin typeface="Bahnschrift" panose="020B0502040204020203" pitchFamily="34" charset="0"/>
              </a:rPr>
              <a:t>In Central and Eastern European countries, economic transition increased regional differences. The decline of traditional industries created structural unemployment in several regions, especially those that failed to attract new investment or adapt to new economic activities (</a:t>
            </a:r>
            <a:r>
              <a:rPr lang="en-US" dirty="0" err="1">
                <a:latin typeface="Bahnschrift" panose="020B0502040204020203" pitchFamily="34" charset="0"/>
              </a:rPr>
              <a:t>Iancu</a:t>
            </a:r>
            <a:r>
              <a:rPr lang="en-US" dirty="0">
                <a:latin typeface="Bahnschrift" panose="020B0502040204020203" pitchFamily="34" charset="0"/>
              </a:rPr>
              <a:t>, 2012</a:t>
            </a:r>
            <a:r>
              <a:rPr lang="en-US" dirty="0" smtClean="0">
                <a:latin typeface="Bahnschrift" panose="020B0502040204020203" pitchFamily="34" charset="0"/>
              </a:rPr>
              <a:t>). </a:t>
            </a:r>
          </a:p>
        </p:txBody>
      </p:sp>
    </p:spTree>
    <p:extLst>
      <p:ext uri="{BB962C8B-B14F-4D97-AF65-F5344CB8AC3E}">
        <p14:creationId xmlns:p14="http://schemas.microsoft.com/office/powerpoint/2010/main" val="408112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panose="020B0502040204020203" pitchFamily="34" charset="0"/>
              </a:rPr>
              <a:t>2. Literature Review</a:t>
            </a:r>
            <a:endParaRPr lang="en-US" dirty="0">
              <a:latin typeface="Bahnschrift" panose="020B0502040204020203" pitchFamily="34" charset="0"/>
            </a:endParaRPr>
          </a:p>
        </p:txBody>
      </p:sp>
      <p:sp>
        <p:nvSpPr>
          <p:cNvPr id="3" name="Content Placeholder 2"/>
          <p:cNvSpPr>
            <a:spLocks noGrp="1"/>
          </p:cNvSpPr>
          <p:nvPr>
            <p:ph idx="1"/>
          </p:nvPr>
        </p:nvSpPr>
        <p:spPr/>
        <p:txBody>
          <a:bodyPr>
            <a:normAutofit lnSpcReduction="10000"/>
          </a:bodyPr>
          <a:lstStyle/>
          <a:p>
            <a:r>
              <a:rPr lang="en-US" dirty="0">
                <a:latin typeface="Bahnschrift" panose="020B0502040204020203" pitchFamily="34" charset="0"/>
              </a:rPr>
              <a:t>Education is another key factor influencing unemployment. Human capital theory suggests that higher education improves employability and helps workers adapt to labor market changes (Mincer, 1974). Empirical studies show that regions with higher shares of tertiary-educated population usually have lower unemployment </a:t>
            </a:r>
            <a:r>
              <a:rPr lang="en-US" dirty="0" smtClean="0">
                <a:latin typeface="Bahnschrift" panose="020B0502040204020203" pitchFamily="34" charset="0"/>
              </a:rPr>
              <a:t>rates (</a:t>
            </a:r>
            <a:r>
              <a:rPr lang="en-US" dirty="0" err="1">
                <a:latin typeface="Bahnschrift" panose="020B0502040204020203" pitchFamily="34" charset="0"/>
              </a:rPr>
              <a:t>Marelli</a:t>
            </a:r>
            <a:r>
              <a:rPr lang="en-US" dirty="0">
                <a:latin typeface="Bahnschrift" panose="020B0502040204020203" pitchFamily="34" charset="0"/>
              </a:rPr>
              <a:t> et al., 2012).</a:t>
            </a:r>
          </a:p>
          <a:p>
            <a:r>
              <a:rPr lang="en-US" dirty="0">
                <a:latin typeface="Bahnschrift" panose="020B0502040204020203" pitchFamily="34" charset="0"/>
              </a:rPr>
              <a:t>Capital regions also tend to perform better on the labor market. According to economic geography literature, agglomeration effects lead to a concentration of jobs, investment, and infrastructure in capital cities (Krugman, 1991; </a:t>
            </a:r>
            <a:r>
              <a:rPr lang="en-US" dirty="0" err="1">
                <a:latin typeface="Bahnschrift" panose="020B0502040204020203" pitchFamily="34" charset="0"/>
              </a:rPr>
              <a:t>Capello</a:t>
            </a:r>
            <a:r>
              <a:rPr lang="en-US" dirty="0">
                <a:latin typeface="Bahnschrift" panose="020B0502040204020203" pitchFamily="34" charset="0"/>
              </a:rPr>
              <a:t>, 2014). </a:t>
            </a:r>
          </a:p>
        </p:txBody>
      </p:sp>
    </p:spTree>
    <p:extLst>
      <p:ext uri="{BB962C8B-B14F-4D97-AF65-F5344CB8AC3E}">
        <p14:creationId xmlns:p14="http://schemas.microsoft.com/office/powerpoint/2010/main" val="2876160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8883" y="260648"/>
            <a:ext cx="10360501" cy="1223963"/>
          </a:xfrm>
        </p:spPr>
        <p:txBody>
          <a:bodyPr>
            <a:normAutofit/>
          </a:bodyPr>
          <a:lstStyle/>
          <a:p>
            <a:r>
              <a:rPr lang="en-US" dirty="0" smtClean="0">
                <a:latin typeface="Bahnschrift" panose="020B0502040204020203" pitchFamily="34" charset="0"/>
              </a:rPr>
              <a:t>3. Methodology</a:t>
            </a:r>
            <a:r>
              <a:rPr lang="en-US" dirty="0">
                <a:latin typeface="Bahnschrift" panose="020B0502040204020203" pitchFamily="34" charset="0"/>
              </a:rPr>
              <a:t> </a:t>
            </a:r>
            <a:r>
              <a:rPr lang="en-US" dirty="0" smtClean="0">
                <a:latin typeface="Bahnschrift" panose="020B0502040204020203" pitchFamily="34" charset="0"/>
              </a:rPr>
              <a:t>- Data and Sample</a:t>
            </a:r>
            <a:endParaRPr lang="en-US" dirty="0">
              <a:latin typeface="Bahnschrift" panose="020B0502040204020203" pitchFamily="34" charset="0"/>
            </a:endParaRPr>
          </a:p>
        </p:txBody>
      </p:sp>
      <p:sp>
        <p:nvSpPr>
          <p:cNvPr id="5" name="Content Placeholder 4"/>
          <p:cNvSpPr>
            <a:spLocks noGrp="1"/>
          </p:cNvSpPr>
          <p:nvPr>
            <p:ph idx="1"/>
          </p:nvPr>
        </p:nvSpPr>
        <p:spPr/>
        <p:txBody>
          <a:bodyPr/>
          <a:lstStyle/>
          <a:p>
            <a:r>
              <a:rPr lang="en-US" dirty="0" smtClean="0">
                <a:latin typeface="Bahnschrift" panose="020B0502040204020203" pitchFamily="34" charset="0"/>
              </a:rPr>
              <a:t>Unit of observations: NUTS2 regions</a:t>
            </a:r>
          </a:p>
          <a:p>
            <a:r>
              <a:rPr lang="en-US" dirty="0" smtClean="0">
                <a:latin typeface="Bahnschrift" panose="020B0502040204020203" pitchFamily="34" charset="0"/>
              </a:rPr>
              <a:t>Sample: Romania (8 regions), Bulgaria (6 regions), Poland (16 regions)</a:t>
            </a:r>
          </a:p>
          <a:p>
            <a:r>
              <a:rPr lang="en-US" dirty="0" smtClean="0">
                <a:latin typeface="Bahnschrift" panose="020B0502040204020203" pitchFamily="34" charset="0"/>
              </a:rPr>
              <a:t>Total </a:t>
            </a:r>
            <a:r>
              <a:rPr lang="en-US" dirty="0" err="1" smtClean="0">
                <a:latin typeface="Bahnschrift" panose="020B0502040204020203" pitchFamily="34" charset="0"/>
              </a:rPr>
              <a:t>obeservations</a:t>
            </a:r>
            <a:r>
              <a:rPr lang="en-US" dirty="0" smtClean="0">
                <a:latin typeface="Bahnschrift" panose="020B0502040204020203" pitchFamily="34" charset="0"/>
              </a:rPr>
              <a:t>: 30 NUTS regions (cross-sectional data)</a:t>
            </a:r>
          </a:p>
          <a:p>
            <a:r>
              <a:rPr lang="en-US" dirty="0" smtClean="0">
                <a:latin typeface="Bahnschrift" panose="020B0502040204020203" pitchFamily="34" charset="0"/>
              </a:rPr>
              <a:t>Time coverage: year 2023</a:t>
            </a:r>
          </a:p>
          <a:p>
            <a:r>
              <a:rPr lang="en-US" dirty="0" smtClean="0">
                <a:latin typeface="Bahnschrift" panose="020B0502040204020203" pitchFamily="34" charset="0"/>
              </a:rPr>
              <a:t>Method: Cross-sectional analysis using multiple linear regression (OLS)</a:t>
            </a:r>
            <a:endParaRPr lang="en-US" dirty="0">
              <a:latin typeface="Bahnschrift" panose="020B0502040204020203" pitchFamily="34" charset="0"/>
            </a:endParaRPr>
          </a:p>
        </p:txBody>
      </p:sp>
    </p:spTree>
    <p:extLst>
      <p:ext uri="{BB962C8B-B14F-4D97-AF65-F5344CB8AC3E}">
        <p14:creationId xmlns:p14="http://schemas.microsoft.com/office/powerpoint/2010/main" val="2988375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8883" y="274637"/>
            <a:ext cx="10360501" cy="994123"/>
          </a:xfrm>
        </p:spPr>
        <p:txBody>
          <a:bodyPr/>
          <a:lstStyle/>
          <a:p>
            <a:r>
              <a:rPr lang="en-US" dirty="0">
                <a:latin typeface="Bahnschrift" panose="020B0502040204020203" pitchFamily="34" charset="0"/>
              </a:rPr>
              <a:t>3. Methodology </a:t>
            </a:r>
            <a:r>
              <a:rPr lang="en-US" dirty="0" smtClean="0">
                <a:latin typeface="Bahnschrift" panose="020B0502040204020203" pitchFamily="34" charset="0"/>
              </a:rPr>
              <a:t>- Variable </a:t>
            </a:r>
            <a:r>
              <a:rPr lang="en-US" dirty="0" err="1" smtClean="0">
                <a:latin typeface="Bahnschrift" panose="020B0502040204020203" pitchFamily="34" charset="0"/>
              </a:rPr>
              <a:t>Definiton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81212447"/>
              </p:ext>
            </p:extLst>
          </p:nvPr>
        </p:nvGraphicFramePr>
        <p:xfrm>
          <a:off x="1218883" y="1556793"/>
          <a:ext cx="9988098" cy="4608510"/>
        </p:xfrm>
        <a:graphic>
          <a:graphicData uri="http://schemas.openxmlformats.org/drawingml/2006/table">
            <a:tbl>
              <a:tblPr firstRow="1" bandRow="1">
                <a:tableStyleId>{5C22544A-7EE6-4342-B048-85BDC9FD1C3A}</a:tableStyleId>
              </a:tblPr>
              <a:tblGrid>
                <a:gridCol w="2821276"/>
                <a:gridCol w="2414293"/>
                <a:gridCol w="4752529"/>
              </a:tblGrid>
              <a:tr h="555249">
                <a:tc>
                  <a:txBody>
                    <a:bodyPr/>
                    <a:lstStyle/>
                    <a:p>
                      <a:pPr algn="ctr"/>
                      <a:r>
                        <a:rPr lang="en-US" sz="2000" dirty="0" smtClean="0"/>
                        <a:t>Variable</a:t>
                      </a:r>
                      <a:endParaRPr lang="en-US" sz="2000" dirty="0"/>
                    </a:p>
                  </a:txBody>
                  <a:tcPr/>
                </a:tc>
                <a:tc>
                  <a:txBody>
                    <a:bodyPr/>
                    <a:lstStyle/>
                    <a:p>
                      <a:pPr algn="ctr"/>
                      <a:r>
                        <a:rPr lang="en-US" sz="2000" dirty="0" smtClean="0"/>
                        <a:t>Type</a:t>
                      </a:r>
                      <a:endParaRPr lang="en-US" sz="2000" dirty="0"/>
                    </a:p>
                  </a:txBody>
                  <a:tcPr/>
                </a:tc>
                <a:tc>
                  <a:txBody>
                    <a:bodyPr/>
                    <a:lstStyle/>
                    <a:p>
                      <a:pPr algn="ctr"/>
                      <a:r>
                        <a:rPr lang="en-US" sz="2000" dirty="0" smtClean="0"/>
                        <a:t>Computation</a:t>
                      </a:r>
                      <a:endParaRPr lang="en-US" sz="2000" dirty="0"/>
                    </a:p>
                  </a:txBody>
                  <a:tcPr/>
                </a:tc>
              </a:tr>
              <a:tr h="1351087">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US" sz="2000" b="0" dirty="0" err="1" smtClean="0"/>
                        <a:t>UnemploymentRate</a:t>
                      </a:r>
                      <a:r>
                        <a:rPr lang="en-US" sz="2000" b="0" dirty="0" smtClean="0"/>
                        <a:t>%</a:t>
                      </a:r>
                    </a:p>
                    <a:p>
                      <a:pPr algn="ctr"/>
                      <a:endParaRPr lang="en-US" sz="2000" dirty="0"/>
                    </a:p>
                  </a:txBody>
                  <a:tcPr/>
                </a:tc>
                <a:tc>
                  <a:txBody>
                    <a:bodyPr/>
                    <a:lstStyle/>
                    <a:p>
                      <a:pPr algn="ctr"/>
                      <a:r>
                        <a:rPr lang="en-US" sz="2000" dirty="0" smtClean="0"/>
                        <a:t>dependent</a:t>
                      </a:r>
                      <a:endParaRPr lang="en-US" sz="2000" dirty="0"/>
                    </a:p>
                  </a:txBody>
                  <a:tcPr/>
                </a:tc>
                <a:tc>
                  <a:txBody>
                    <a:bodyPr/>
                    <a:lstStyle/>
                    <a:p>
                      <a:pPr algn="ctr"/>
                      <a:r>
                        <a:rPr lang="en-US" sz="2000" dirty="0" smtClean="0"/>
                        <a:t>No. of unemployed persons aged 15–74 divided by the active labor force in the same age group, expressed as a percentage</a:t>
                      </a:r>
                      <a:endParaRPr lang="en-US" sz="2000" dirty="0"/>
                    </a:p>
                  </a:txBody>
                  <a:tcPr/>
                </a:tc>
              </a:tr>
              <a:tr h="1351087">
                <a:tc>
                  <a:txBody>
                    <a:bodyPr/>
                    <a:lstStyle/>
                    <a:p>
                      <a:pPr algn="ctr"/>
                      <a:r>
                        <a:rPr lang="en-US" sz="2000" dirty="0" err="1" smtClean="0"/>
                        <a:t>GDPperCapita</a:t>
                      </a:r>
                      <a:r>
                        <a:rPr lang="en-US" sz="2000" dirty="0" smtClean="0"/>
                        <a:t>_</a:t>
                      </a:r>
                    </a:p>
                    <a:p>
                      <a:pPr algn="ctr"/>
                      <a:r>
                        <a:rPr lang="en-US" sz="2000" dirty="0" smtClean="0"/>
                        <a:t>PPS</a:t>
                      </a:r>
                      <a:endParaRPr lang="en-US" sz="2000" dirty="0"/>
                    </a:p>
                  </a:txBody>
                  <a:tcPr/>
                </a:tc>
                <a:tc>
                  <a:txBody>
                    <a:bodyPr/>
                    <a:lstStyle/>
                    <a:p>
                      <a:pPr algn="ctr"/>
                      <a:r>
                        <a:rPr lang="en-US" sz="2000" dirty="0" smtClean="0"/>
                        <a:t>independent </a:t>
                      </a:r>
                      <a:endParaRPr lang="en-US" sz="2000" dirty="0"/>
                    </a:p>
                  </a:txBody>
                  <a:tcPr/>
                </a:tc>
                <a:tc>
                  <a:txBody>
                    <a:bodyPr/>
                    <a:lstStyle/>
                    <a:p>
                      <a:pPr algn="ctr"/>
                      <a:r>
                        <a:rPr lang="en-US" sz="2000" dirty="0" smtClean="0"/>
                        <a:t>Computed as regional GDP at market prices divided by the resident population, adjusted using Purchasing Power Standards</a:t>
                      </a:r>
                      <a:endParaRPr lang="en-US" sz="2000" dirty="0"/>
                    </a:p>
                  </a:txBody>
                  <a:tcPr/>
                </a:tc>
              </a:tr>
              <a:tr h="1351087">
                <a:tc>
                  <a:txBody>
                    <a:bodyPr/>
                    <a:lstStyle/>
                    <a:p>
                      <a:pPr algn="ctr"/>
                      <a:r>
                        <a:rPr lang="en-US" sz="2000" dirty="0" err="1" smtClean="0"/>
                        <a:t>TertiaryEducation</a:t>
                      </a:r>
                      <a:endParaRPr lang="en-US" sz="2000" dirty="0" smtClean="0"/>
                    </a:p>
                    <a:p>
                      <a:pPr algn="ctr"/>
                      <a:r>
                        <a:rPr lang="en-US" sz="2000" dirty="0" smtClean="0"/>
                        <a:t>%</a:t>
                      </a:r>
                      <a:endParaRPr lang="en-US" sz="2000" dirty="0"/>
                    </a:p>
                  </a:txBody>
                  <a:tcPr/>
                </a:tc>
                <a:tc>
                  <a:txBody>
                    <a:bodyPr/>
                    <a:lstStyle/>
                    <a:p>
                      <a:pPr algn="ctr"/>
                      <a:r>
                        <a:rPr lang="en-US" sz="2000" dirty="0" smtClean="0"/>
                        <a:t>independent </a:t>
                      </a:r>
                      <a:endParaRPr lang="en-US" sz="2000" dirty="0"/>
                    </a:p>
                  </a:txBody>
                  <a:tcPr/>
                </a:tc>
                <a:tc>
                  <a:txBody>
                    <a:bodyPr/>
                    <a:lstStyle/>
                    <a:p>
                      <a:pPr algn="ctr"/>
                      <a:r>
                        <a:rPr lang="en-US" sz="2000" dirty="0" smtClean="0"/>
                        <a:t>Share of the population aged 25–64 that has completed tertiary education (ISCED levels 5–8), expressed as a percentage</a:t>
                      </a:r>
                      <a:endParaRPr lang="en-US" sz="2000" dirty="0"/>
                    </a:p>
                  </a:txBody>
                  <a:tcPr/>
                </a:tc>
              </a:tr>
            </a:tbl>
          </a:graphicData>
        </a:graphic>
      </p:graphicFrame>
    </p:spTree>
    <p:extLst>
      <p:ext uri="{BB962C8B-B14F-4D97-AF65-F5344CB8AC3E}">
        <p14:creationId xmlns:p14="http://schemas.microsoft.com/office/powerpoint/2010/main" val="2104437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8883" y="274637"/>
            <a:ext cx="10360501" cy="994123"/>
          </a:xfrm>
        </p:spPr>
        <p:txBody>
          <a:bodyPr/>
          <a:lstStyle/>
          <a:p>
            <a:r>
              <a:rPr lang="en-US" dirty="0">
                <a:latin typeface="Bahnschrift" panose="020B0502040204020203" pitchFamily="34" charset="0"/>
              </a:rPr>
              <a:t>3. Methodology </a:t>
            </a:r>
            <a:r>
              <a:rPr lang="en-US" dirty="0" smtClean="0">
                <a:latin typeface="Bahnschrift" panose="020B0502040204020203" pitchFamily="34" charset="0"/>
              </a:rPr>
              <a:t>- Variable </a:t>
            </a:r>
            <a:r>
              <a:rPr lang="en-US" dirty="0" err="1" smtClean="0">
                <a:latin typeface="Bahnschrift" panose="020B0502040204020203" pitchFamily="34" charset="0"/>
              </a:rPr>
              <a:t>Definiton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94777741"/>
              </p:ext>
            </p:extLst>
          </p:nvPr>
        </p:nvGraphicFramePr>
        <p:xfrm>
          <a:off x="1218883" y="1484784"/>
          <a:ext cx="10360502" cy="4608512"/>
        </p:xfrm>
        <a:graphic>
          <a:graphicData uri="http://schemas.openxmlformats.org/drawingml/2006/table">
            <a:tbl>
              <a:tblPr firstRow="1" bandRow="1">
                <a:tableStyleId>{5C22544A-7EE6-4342-B048-85BDC9FD1C3A}</a:tableStyleId>
              </a:tblPr>
              <a:tblGrid>
                <a:gridCol w="3041616"/>
                <a:gridCol w="2341573"/>
                <a:gridCol w="4977313"/>
              </a:tblGrid>
              <a:tr h="538053">
                <a:tc>
                  <a:txBody>
                    <a:bodyPr/>
                    <a:lstStyle/>
                    <a:p>
                      <a:pPr algn="ctr"/>
                      <a:r>
                        <a:rPr lang="en-US" sz="2000" dirty="0" smtClean="0"/>
                        <a:t>Variable</a:t>
                      </a:r>
                      <a:endParaRPr lang="en-US" sz="2000" dirty="0"/>
                    </a:p>
                  </a:txBody>
                  <a:tcPr/>
                </a:tc>
                <a:tc>
                  <a:txBody>
                    <a:bodyPr/>
                    <a:lstStyle/>
                    <a:p>
                      <a:pPr algn="ctr"/>
                      <a:r>
                        <a:rPr lang="en-US" sz="2000" dirty="0" smtClean="0"/>
                        <a:t>Type</a:t>
                      </a:r>
                      <a:endParaRPr lang="en-US" sz="2000" dirty="0"/>
                    </a:p>
                  </a:txBody>
                  <a:tcPr/>
                </a:tc>
                <a:tc>
                  <a:txBody>
                    <a:bodyPr/>
                    <a:lstStyle/>
                    <a:p>
                      <a:pPr algn="ctr"/>
                      <a:r>
                        <a:rPr lang="en-US" sz="2000" dirty="0" smtClean="0"/>
                        <a:t>Computation</a:t>
                      </a:r>
                      <a:endParaRPr lang="en-US" sz="2000" dirty="0"/>
                    </a:p>
                  </a:txBody>
                  <a:tcPr/>
                </a:tc>
              </a:tr>
              <a:tr h="1451973">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en-US" sz="2000" dirty="0" err="1" smtClean="0"/>
                        <a:t>EmploymentRate</a:t>
                      </a:r>
                      <a:endParaRPr lang="en-US" sz="2000" dirty="0" smtClean="0"/>
                    </a:p>
                    <a:p>
                      <a:pPr marL="0" marR="0" lvl="0" indent="0" algn="ctr" defTabSz="1218987" rtl="0" eaLnBrk="1" fontAlgn="auto" latinLnBrk="0" hangingPunct="1">
                        <a:lnSpc>
                          <a:spcPct val="100000"/>
                        </a:lnSpc>
                        <a:spcBef>
                          <a:spcPts val="0"/>
                        </a:spcBef>
                        <a:spcAft>
                          <a:spcPts val="0"/>
                        </a:spcAft>
                        <a:buClrTx/>
                        <a:buSzTx/>
                        <a:buFontTx/>
                        <a:buNone/>
                        <a:tabLst/>
                        <a:defRPr/>
                      </a:pPr>
                      <a:r>
                        <a:rPr lang="en-US" sz="2000" dirty="0" smtClean="0"/>
                        <a:t>%</a:t>
                      </a:r>
                      <a:endParaRPr lang="en-US" sz="2000" dirty="0"/>
                    </a:p>
                  </a:txBody>
                  <a:tcPr/>
                </a:tc>
                <a:tc>
                  <a:txBody>
                    <a:bodyPr/>
                    <a:lstStyle/>
                    <a:p>
                      <a:pPr algn="ctr"/>
                      <a:r>
                        <a:rPr lang="en-US" sz="2000" dirty="0" smtClean="0"/>
                        <a:t>independent</a:t>
                      </a:r>
                      <a:endParaRPr lang="en-US" sz="2000" dirty="0"/>
                    </a:p>
                  </a:txBody>
                  <a:tcPr/>
                </a:tc>
                <a:tc>
                  <a:txBody>
                    <a:bodyPr/>
                    <a:lstStyle/>
                    <a:p>
                      <a:pPr algn="ctr"/>
                      <a:r>
                        <a:rPr lang="en-US" sz="2000" dirty="0" smtClean="0"/>
                        <a:t>Calculated as the proportion of the population aged 20–64 employed, expressed as a percentage of the total population in this age group</a:t>
                      </a:r>
                      <a:endParaRPr lang="en-US" sz="2000" dirty="0"/>
                    </a:p>
                  </a:txBody>
                  <a:tcPr/>
                </a:tc>
              </a:tr>
              <a:tr h="1309243">
                <a:tc>
                  <a:txBody>
                    <a:bodyPr/>
                    <a:lstStyle/>
                    <a:p>
                      <a:pPr algn="ctr"/>
                      <a:r>
                        <a:rPr lang="en-US" sz="2000" dirty="0" err="1" smtClean="0"/>
                        <a:t>PopulationDensity</a:t>
                      </a:r>
                      <a:r>
                        <a:rPr lang="en-US" sz="2000" dirty="0" smtClean="0"/>
                        <a:t>_</a:t>
                      </a:r>
                    </a:p>
                    <a:p>
                      <a:pPr algn="ctr"/>
                      <a:r>
                        <a:rPr lang="en-US" sz="2000" dirty="0" smtClean="0"/>
                        <a:t>inh_km2</a:t>
                      </a:r>
                      <a:endParaRPr lang="en-US" sz="2000" dirty="0"/>
                    </a:p>
                  </a:txBody>
                  <a:tcPr/>
                </a:tc>
                <a:tc>
                  <a:txBody>
                    <a:bodyPr/>
                    <a:lstStyle/>
                    <a:p>
                      <a:pPr algn="ctr"/>
                      <a:r>
                        <a:rPr lang="en-US" sz="2000" dirty="0" smtClean="0"/>
                        <a:t>independent </a:t>
                      </a:r>
                      <a:endParaRPr lang="en-US" sz="2000" dirty="0"/>
                    </a:p>
                  </a:txBody>
                  <a:tcPr/>
                </a:tc>
                <a:tc>
                  <a:txBody>
                    <a:bodyPr/>
                    <a:lstStyle/>
                    <a:p>
                      <a:pPr algn="ctr"/>
                      <a:r>
                        <a:rPr lang="en-US" sz="2000" dirty="0" smtClean="0"/>
                        <a:t>Calculated as the total resident population divided by the surface area of the region, expressed as inhabitants per square kilometer</a:t>
                      </a:r>
                      <a:endParaRPr lang="en-US" sz="2000" dirty="0"/>
                    </a:p>
                  </a:txBody>
                  <a:tcPr/>
                </a:tc>
              </a:tr>
              <a:tr h="1309243">
                <a:tc>
                  <a:txBody>
                    <a:bodyPr/>
                    <a:lstStyle/>
                    <a:p>
                      <a:pPr algn="ctr"/>
                      <a:r>
                        <a:rPr lang="en-US" sz="2000" dirty="0" smtClean="0"/>
                        <a:t>Dummy_</a:t>
                      </a:r>
                    </a:p>
                    <a:p>
                      <a:pPr algn="ctr"/>
                      <a:r>
                        <a:rPr lang="en-US" sz="2000" dirty="0" err="1" smtClean="0"/>
                        <a:t>CapitalRegion</a:t>
                      </a:r>
                      <a:endParaRPr lang="en-US" sz="2000" dirty="0"/>
                    </a:p>
                  </a:txBody>
                  <a:tcPr/>
                </a:tc>
                <a:tc>
                  <a:txBody>
                    <a:bodyPr/>
                    <a:lstStyle/>
                    <a:p>
                      <a:pPr algn="ctr"/>
                      <a:r>
                        <a:rPr lang="en-US" sz="2000" dirty="0" smtClean="0"/>
                        <a:t>independent </a:t>
                      </a:r>
                      <a:endParaRPr lang="en-US" sz="2000" dirty="0"/>
                    </a:p>
                  </a:txBody>
                  <a:tcPr/>
                </a:tc>
                <a:tc>
                  <a:txBody>
                    <a:bodyPr/>
                    <a:lstStyle/>
                    <a:p>
                      <a:r>
                        <a:rPr lang="it-IT" sz="2000" dirty="0" smtClean="0"/>
                        <a:t>1 = capital region (Bucharest-Ilfov, Sofia region, Warsaw region)</a:t>
                      </a:r>
                    </a:p>
                    <a:p>
                      <a:r>
                        <a:rPr lang="it-IT" sz="2000" dirty="0" smtClean="0"/>
                        <a:t>0 = non-capital region</a:t>
                      </a:r>
                      <a:endParaRPr lang="it-IT" sz="2000" dirty="0"/>
                    </a:p>
                  </a:txBody>
                  <a:tcPr/>
                </a:tc>
              </a:tr>
            </a:tbl>
          </a:graphicData>
        </a:graphic>
      </p:graphicFrame>
    </p:spTree>
    <p:extLst>
      <p:ext uri="{BB962C8B-B14F-4D97-AF65-F5344CB8AC3E}">
        <p14:creationId xmlns:p14="http://schemas.microsoft.com/office/powerpoint/2010/main" val="3019716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8883" y="274637"/>
            <a:ext cx="10360501" cy="922115"/>
          </a:xfrm>
        </p:spPr>
        <p:txBody>
          <a:bodyPr/>
          <a:lstStyle/>
          <a:p>
            <a:r>
              <a:rPr lang="en-US" dirty="0">
                <a:latin typeface="Bahnschrift" panose="020B0502040204020203" pitchFamily="34" charset="0"/>
              </a:rPr>
              <a:t>3. Methodology </a:t>
            </a:r>
            <a:r>
              <a:rPr lang="en-US" dirty="0" smtClean="0">
                <a:latin typeface="Bahnschrift" panose="020B0502040204020203" pitchFamily="34" charset="0"/>
              </a:rPr>
              <a:t>- Descriptive Statistics</a:t>
            </a:r>
            <a:endParaRPr lang="en-US" dirty="0"/>
          </a:p>
        </p:txBody>
      </p:sp>
      <p:sp>
        <p:nvSpPr>
          <p:cNvPr id="3" name="Content Placeholder 2"/>
          <p:cNvSpPr>
            <a:spLocks noGrp="1"/>
          </p:cNvSpPr>
          <p:nvPr>
            <p:ph idx="1"/>
          </p:nvPr>
        </p:nvSpPr>
        <p:spPr>
          <a:xfrm>
            <a:off x="1218883" y="1309766"/>
            <a:ext cx="5523601" cy="5456486"/>
          </a:xfrm>
        </p:spPr>
        <p:txBody>
          <a:bodyPr>
            <a:noAutofit/>
          </a:bodyPr>
          <a:lstStyle/>
          <a:p>
            <a:r>
              <a:rPr lang="en-US" sz="2200" dirty="0">
                <a:latin typeface="Bahnschrift" panose="020B0502040204020203" pitchFamily="34" charset="0"/>
              </a:rPr>
              <a:t>The mean unemployment rate (</a:t>
            </a:r>
            <a:r>
              <a:rPr lang="en-US" sz="2200" b="1" dirty="0">
                <a:latin typeface="Bahnschrift" panose="020B0502040204020203" pitchFamily="34" charset="0"/>
              </a:rPr>
              <a:t>4.05%</a:t>
            </a:r>
            <a:r>
              <a:rPr lang="en-US" sz="2200" dirty="0">
                <a:latin typeface="Bahnschrift" panose="020B0502040204020203" pitchFamily="34" charset="0"/>
              </a:rPr>
              <a:t>) exceeds the median (</a:t>
            </a:r>
            <a:r>
              <a:rPr lang="en-US" sz="2200" b="1" dirty="0">
                <a:latin typeface="Bahnschrift" panose="020B0502040204020203" pitchFamily="34" charset="0"/>
              </a:rPr>
              <a:t>3.30%</a:t>
            </a:r>
            <a:r>
              <a:rPr lang="en-US" sz="2200" dirty="0">
                <a:latin typeface="Bahnschrift" panose="020B0502040204020203" pitchFamily="34" charset="0"/>
              </a:rPr>
              <a:t>), indicating that most regions have low unemployment, while a few regions with higher values increase the average</a:t>
            </a:r>
            <a:r>
              <a:rPr lang="en-US" sz="2200" dirty="0" smtClean="0">
                <a:latin typeface="Bahnschrift" panose="020B0502040204020203" pitchFamily="34" charset="0"/>
              </a:rPr>
              <a:t>.</a:t>
            </a:r>
          </a:p>
          <a:p>
            <a:r>
              <a:rPr lang="en-US" sz="2200" dirty="0" smtClean="0">
                <a:latin typeface="Bahnschrift" panose="020B0502040204020203" pitchFamily="34" charset="0"/>
              </a:rPr>
              <a:t>Tertiary </a:t>
            </a:r>
            <a:r>
              <a:rPr lang="en-US" sz="2200" dirty="0">
                <a:latin typeface="Bahnschrift" panose="020B0502040204020203" pitchFamily="34" charset="0"/>
              </a:rPr>
              <a:t>education and employment rates show relatively high median values, suggesting generally strong labor market participation, but with uneven distribution across regions.</a:t>
            </a:r>
          </a:p>
          <a:p>
            <a:r>
              <a:rPr lang="en-US" sz="2200" dirty="0" smtClean="0">
                <a:latin typeface="Bahnschrift" panose="020B0502040204020203" pitchFamily="34" charset="0"/>
              </a:rPr>
              <a:t>GDP </a:t>
            </a:r>
            <a:r>
              <a:rPr lang="en-US" sz="2200" dirty="0">
                <a:latin typeface="Bahnschrift" panose="020B0502040204020203" pitchFamily="34" charset="0"/>
              </a:rPr>
              <a:t>per capita and population density display large differences between mean and median, reflecting strong disparities between highly developed, urban regions and peripheral areas</a:t>
            </a:r>
            <a:r>
              <a:rPr lang="en-US" sz="2200" dirty="0" smtClean="0">
                <a:latin typeface="Bahnschrift" panose="020B0502040204020203" pitchFamily="34" charset="0"/>
              </a:rPr>
              <a:t>.</a:t>
            </a:r>
            <a:endParaRPr lang="en-US" sz="2200" dirty="0">
              <a:latin typeface="Bahnschrift" panose="020B0502040204020203" pitchFamily="34" charset="0"/>
            </a:endParaRPr>
          </a:p>
        </p:txBody>
      </p:sp>
      <p:pic>
        <p:nvPicPr>
          <p:cNvPr id="6" name="Picture 5"/>
          <p:cNvPicPr>
            <a:picLocks noChangeAspect="1"/>
          </p:cNvPicPr>
          <p:nvPr/>
        </p:nvPicPr>
        <p:blipFill>
          <a:blip r:embed="rId2"/>
          <a:stretch>
            <a:fillRect/>
          </a:stretch>
        </p:blipFill>
        <p:spPr>
          <a:xfrm>
            <a:off x="7102524" y="1427545"/>
            <a:ext cx="4752528" cy="2087243"/>
          </a:xfrm>
          <a:prstGeom prst="rect">
            <a:avLst/>
          </a:prstGeom>
        </p:spPr>
      </p:pic>
      <p:sp>
        <p:nvSpPr>
          <p:cNvPr id="4" name="Rectangle 3"/>
          <p:cNvSpPr/>
          <p:nvPr/>
        </p:nvSpPr>
        <p:spPr>
          <a:xfrm>
            <a:off x="7102524" y="3789040"/>
            <a:ext cx="4752528" cy="2123658"/>
          </a:xfrm>
          <a:prstGeom prst="rect">
            <a:avLst/>
          </a:prstGeom>
        </p:spPr>
        <p:txBody>
          <a:bodyPr wrap="square">
            <a:spAutoFit/>
          </a:bodyPr>
          <a:lstStyle/>
          <a:p>
            <a:pPr marL="342900" indent="-342900">
              <a:buFont typeface="Arial" panose="020B0604020202020204" pitchFamily="34" charset="0"/>
              <a:buChar char="•"/>
            </a:pPr>
            <a:r>
              <a:rPr lang="en-US" sz="2200" dirty="0">
                <a:latin typeface="Bahnschrift" panose="020B0502040204020203" pitchFamily="34" charset="0"/>
              </a:rPr>
              <a:t>These descriptive patterns reveal </a:t>
            </a:r>
            <a:r>
              <a:rPr lang="en-US" sz="2200" dirty="0" smtClean="0">
                <a:latin typeface="Bahnschrift" panose="020B0502040204020203" pitchFamily="34" charset="0"/>
              </a:rPr>
              <a:t>regional </a:t>
            </a:r>
            <a:r>
              <a:rPr lang="en-US" sz="2200" dirty="0">
                <a:latin typeface="Bahnschrift" panose="020B0502040204020203" pitchFamily="34" charset="0"/>
              </a:rPr>
              <a:t>heterogeneity and motivate the use of multiple linear regression to explain unemployment differences across regions.</a:t>
            </a:r>
          </a:p>
        </p:txBody>
      </p:sp>
    </p:spTree>
    <p:extLst>
      <p:ext uri="{BB962C8B-B14F-4D97-AF65-F5344CB8AC3E}">
        <p14:creationId xmlns:p14="http://schemas.microsoft.com/office/powerpoint/2010/main" val="3727574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ahnschrift" panose="020B0502040204020203" pitchFamily="34" charset="0"/>
              </a:rPr>
              <a:t>3. Methodology </a:t>
            </a:r>
            <a:r>
              <a:rPr lang="en-US" dirty="0" smtClean="0">
                <a:latin typeface="Bahnschrift" panose="020B0502040204020203" pitchFamily="34" charset="0"/>
              </a:rPr>
              <a:t>- Regression Models Definition</a:t>
            </a:r>
            <a:endParaRPr lang="en-US" dirty="0">
              <a:latin typeface="Bahnschrift" panose="020B0502040204020203" pitchFamily="34" charset="0"/>
            </a:endParaRPr>
          </a:p>
        </p:txBody>
      </p:sp>
      <p:sp>
        <p:nvSpPr>
          <p:cNvPr id="3" name="Content Placeholder 2"/>
          <p:cNvSpPr>
            <a:spLocks noGrp="1"/>
          </p:cNvSpPr>
          <p:nvPr>
            <p:ph idx="1"/>
          </p:nvPr>
        </p:nvSpPr>
        <p:spPr>
          <a:xfrm>
            <a:off x="1218882" y="1701796"/>
            <a:ext cx="10852193" cy="4967564"/>
          </a:xfrm>
        </p:spPr>
        <p:txBody>
          <a:bodyPr>
            <a:normAutofit fontScale="92500" lnSpcReduction="10000"/>
          </a:bodyPr>
          <a:lstStyle/>
          <a:p>
            <a:pPr marL="0" indent="0">
              <a:buNone/>
            </a:pPr>
            <a:r>
              <a:rPr lang="en-US" dirty="0">
                <a:solidFill>
                  <a:schemeClr val="accent5">
                    <a:lumMod val="40000"/>
                    <a:lumOff val="60000"/>
                  </a:schemeClr>
                </a:solidFill>
                <a:latin typeface="Bahnschrift" panose="020B0502040204020203" pitchFamily="34" charset="0"/>
              </a:rPr>
              <a:t>Unemployment</a:t>
            </a:r>
            <a:r>
              <a:rPr lang="en-US" dirty="0" smtClean="0">
                <a:solidFill>
                  <a:schemeClr val="accent5">
                    <a:lumMod val="40000"/>
                    <a:lumOff val="60000"/>
                  </a:schemeClr>
                </a:solidFill>
                <a:latin typeface="Bahnschrift" panose="020B0502040204020203" pitchFamily="34" charset="0"/>
              </a:rPr>
              <a:t>=</a:t>
            </a:r>
          </a:p>
          <a:p>
            <a:pPr marL="0" indent="0">
              <a:buNone/>
            </a:pPr>
            <a:r>
              <a:rPr lang="en-US" dirty="0" smtClean="0">
                <a:solidFill>
                  <a:schemeClr val="accent5">
                    <a:lumMod val="40000"/>
                    <a:lumOff val="60000"/>
                  </a:schemeClr>
                </a:solidFill>
                <a:latin typeface="Bahnschrift" panose="020B0502040204020203" pitchFamily="34" charset="0"/>
              </a:rPr>
              <a:t>β0</a:t>
            </a:r>
            <a:r>
              <a:rPr lang="en-US" dirty="0">
                <a:solidFill>
                  <a:schemeClr val="accent5">
                    <a:lumMod val="40000"/>
                    <a:lumOff val="60000"/>
                  </a:schemeClr>
                </a:solidFill>
                <a:latin typeface="Bahnschrift" panose="020B0502040204020203" pitchFamily="34" charset="0"/>
              </a:rPr>
              <a:t>​+β1​GDP+β2​Education+β3​Employment+β4​</a:t>
            </a:r>
            <a:r>
              <a:rPr lang="en-US" dirty="0" smtClean="0">
                <a:solidFill>
                  <a:schemeClr val="accent5">
                    <a:lumMod val="40000"/>
                    <a:lumOff val="60000"/>
                  </a:schemeClr>
                </a:solidFill>
                <a:latin typeface="Bahnschrift" panose="020B0502040204020203" pitchFamily="34" charset="0"/>
              </a:rPr>
              <a:t>Density+ϵ</a:t>
            </a:r>
          </a:p>
          <a:p>
            <a:r>
              <a:rPr lang="en-US" dirty="0">
                <a:latin typeface="Bahnschrift" panose="020B0502040204020203" pitchFamily="34" charset="0"/>
              </a:rPr>
              <a:t>GDP per capita is expected to be negatively related to unemployment, as more developed regions tend to generate higher labor demand. </a:t>
            </a:r>
            <a:endParaRPr lang="en-US" dirty="0" smtClean="0">
              <a:latin typeface="Bahnschrift" panose="020B0502040204020203" pitchFamily="34" charset="0"/>
            </a:endParaRPr>
          </a:p>
          <a:p>
            <a:r>
              <a:rPr lang="en-US" dirty="0" smtClean="0">
                <a:latin typeface="Bahnschrift" panose="020B0502040204020203" pitchFamily="34" charset="0"/>
              </a:rPr>
              <a:t>Tertiary </a:t>
            </a:r>
            <a:r>
              <a:rPr lang="en-US" dirty="0">
                <a:latin typeface="Bahnschrift" panose="020B0502040204020203" pitchFamily="34" charset="0"/>
              </a:rPr>
              <a:t>education is included to capture the role of human capital, as higher education levels improve employability and adaptability to labor market changes. </a:t>
            </a:r>
            <a:endParaRPr lang="en-US" dirty="0" smtClean="0">
              <a:latin typeface="Bahnschrift" panose="020B0502040204020203" pitchFamily="34" charset="0"/>
            </a:endParaRPr>
          </a:p>
          <a:p>
            <a:r>
              <a:rPr lang="en-US" dirty="0" smtClean="0">
                <a:latin typeface="Bahnschrift" panose="020B0502040204020203" pitchFamily="34" charset="0"/>
              </a:rPr>
              <a:t>The </a:t>
            </a:r>
            <a:r>
              <a:rPr lang="en-US" dirty="0">
                <a:latin typeface="Bahnschrift" panose="020B0502040204020203" pitchFamily="34" charset="0"/>
              </a:rPr>
              <a:t>employment rate reflects overall labor market performance and is expected to be strongly and negatively associated with unemployment</a:t>
            </a:r>
            <a:r>
              <a:rPr lang="en-US" dirty="0" smtClean="0">
                <a:latin typeface="Bahnschrift" panose="020B0502040204020203" pitchFamily="34" charset="0"/>
              </a:rPr>
              <a:t>.</a:t>
            </a:r>
          </a:p>
          <a:p>
            <a:r>
              <a:rPr lang="en-US" dirty="0" smtClean="0">
                <a:latin typeface="Bahnschrift" panose="020B0502040204020203" pitchFamily="34" charset="0"/>
              </a:rPr>
              <a:t> </a:t>
            </a:r>
            <a:r>
              <a:rPr lang="en-US" dirty="0">
                <a:latin typeface="Bahnschrift" panose="020B0502040204020203" pitchFamily="34" charset="0"/>
              </a:rPr>
              <a:t>Population density is included to account for urbanization effects, which may influence job availability and labor mobility.</a:t>
            </a:r>
          </a:p>
        </p:txBody>
      </p:sp>
    </p:spTree>
    <p:extLst>
      <p:ext uri="{BB962C8B-B14F-4D97-AF65-F5344CB8AC3E}">
        <p14:creationId xmlns:p14="http://schemas.microsoft.com/office/powerpoint/2010/main" val="2930041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ahnschrift" panose="020B0502040204020203" pitchFamily="34" charset="0"/>
              </a:rPr>
              <a:t>3. Methodology </a:t>
            </a:r>
            <a:r>
              <a:rPr lang="en-US" dirty="0" smtClean="0">
                <a:latin typeface="Bahnschrift" panose="020B0502040204020203" pitchFamily="34" charset="0"/>
              </a:rPr>
              <a:t>- Regression Models Definition </a:t>
            </a:r>
            <a:endParaRPr lang="en-US" dirty="0">
              <a:latin typeface="Bahnschrift" panose="020B0502040204020203" pitchFamily="34" charset="0"/>
            </a:endParaRPr>
          </a:p>
        </p:txBody>
      </p:sp>
      <p:sp>
        <p:nvSpPr>
          <p:cNvPr id="3" name="Content Placeholder 2"/>
          <p:cNvSpPr>
            <a:spLocks noGrp="1"/>
          </p:cNvSpPr>
          <p:nvPr>
            <p:ph idx="1"/>
          </p:nvPr>
        </p:nvSpPr>
        <p:spPr>
          <a:xfrm>
            <a:off x="1218883" y="1700808"/>
            <a:ext cx="10360501" cy="4752528"/>
          </a:xfrm>
        </p:spPr>
        <p:txBody>
          <a:bodyPr>
            <a:normAutofit/>
          </a:bodyPr>
          <a:lstStyle/>
          <a:p>
            <a:pPr marL="0" indent="0">
              <a:buNone/>
            </a:pPr>
            <a:r>
              <a:rPr lang="en-US" dirty="0">
                <a:solidFill>
                  <a:schemeClr val="accent5">
                    <a:lumMod val="40000"/>
                    <a:lumOff val="60000"/>
                  </a:schemeClr>
                </a:solidFill>
                <a:latin typeface="Bahnschrift" panose="020B0502040204020203" pitchFamily="34" charset="0"/>
              </a:rPr>
              <a:t>Unemployment</a:t>
            </a:r>
            <a:r>
              <a:rPr lang="en-US" dirty="0" smtClean="0">
                <a:solidFill>
                  <a:schemeClr val="accent5">
                    <a:lumMod val="40000"/>
                    <a:lumOff val="60000"/>
                  </a:schemeClr>
                </a:solidFill>
                <a:latin typeface="Bahnschrift" panose="020B0502040204020203" pitchFamily="34" charset="0"/>
              </a:rPr>
              <a:t>=</a:t>
            </a:r>
          </a:p>
          <a:p>
            <a:pPr marL="0" indent="0">
              <a:buNone/>
            </a:pPr>
            <a:r>
              <a:rPr lang="el-GR" dirty="0" smtClean="0">
                <a:solidFill>
                  <a:schemeClr val="accent5">
                    <a:lumMod val="40000"/>
                    <a:lumOff val="60000"/>
                  </a:schemeClr>
                </a:solidFill>
                <a:latin typeface="Bahnschrift" panose="020B0502040204020203" pitchFamily="34" charset="0"/>
              </a:rPr>
              <a:t>β0</a:t>
            </a:r>
            <a:r>
              <a:rPr lang="el-GR" dirty="0">
                <a:solidFill>
                  <a:schemeClr val="accent5">
                    <a:lumMod val="40000"/>
                    <a:lumOff val="60000"/>
                  </a:schemeClr>
                </a:solidFill>
                <a:latin typeface="Bahnschrift" panose="020B0502040204020203" pitchFamily="34" charset="0"/>
              </a:rPr>
              <a:t>​+β1​</a:t>
            </a:r>
            <a:r>
              <a:rPr lang="en-US" dirty="0">
                <a:solidFill>
                  <a:schemeClr val="accent5">
                    <a:lumMod val="40000"/>
                    <a:lumOff val="60000"/>
                  </a:schemeClr>
                </a:solidFill>
                <a:latin typeface="Bahnschrift" panose="020B0502040204020203" pitchFamily="34" charset="0"/>
              </a:rPr>
              <a:t>GDP+</a:t>
            </a:r>
            <a:r>
              <a:rPr lang="el-GR" dirty="0">
                <a:solidFill>
                  <a:schemeClr val="accent5">
                    <a:lumMod val="40000"/>
                    <a:lumOff val="60000"/>
                  </a:schemeClr>
                </a:solidFill>
                <a:latin typeface="Bahnschrift" panose="020B0502040204020203" pitchFamily="34" charset="0"/>
              </a:rPr>
              <a:t>β2​</a:t>
            </a:r>
            <a:r>
              <a:rPr lang="en-US" dirty="0">
                <a:solidFill>
                  <a:schemeClr val="accent5">
                    <a:lumMod val="40000"/>
                    <a:lumOff val="60000"/>
                  </a:schemeClr>
                </a:solidFill>
                <a:latin typeface="Bahnschrift" panose="020B0502040204020203" pitchFamily="34" charset="0"/>
              </a:rPr>
              <a:t>Education+</a:t>
            </a:r>
            <a:r>
              <a:rPr lang="el-GR" dirty="0">
                <a:solidFill>
                  <a:schemeClr val="accent5">
                    <a:lumMod val="40000"/>
                    <a:lumOff val="60000"/>
                  </a:schemeClr>
                </a:solidFill>
                <a:latin typeface="Bahnschrift" panose="020B0502040204020203" pitchFamily="34" charset="0"/>
              </a:rPr>
              <a:t>β3​</a:t>
            </a:r>
            <a:r>
              <a:rPr lang="en-US" dirty="0">
                <a:solidFill>
                  <a:schemeClr val="accent5">
                    <a:lumMod val="40000"/>
                    <a:lumOff val="60000"/>
                  </a:schemeClr>
                </a:solidFill>
                <a:latin typeface="Bahnschrift" panose="020B0502040204020203" pitchFamily="34" charset="0"/>
              </a:rPr>
              <a:t>Employment+</a:t>
            </a:r>
            <a:r>
              <a:rPr lang="el-GR" dirty="0">
                <a:solidFill>
                  <a:schemeClr val="accent5">
                    <a:lumMod val="40000"/>
                    <a:lumOff val="60000"/>
                  </a:schemeClr>
                </a:solidFill>
                <a:latin typeface="Bahnschrift" panose="020B0502040204020203" pitchFamily="34" charset="0"/>
              </a:rPr>
              <a:t>β4​</a:t>
            </a:r>
            <a:r>
              <a:rPr lang="en-US" dirty="0">
                <a:solidFill>
                  <a:schemeClr val="accent5">
                    <a:lumMod val="40000"/>
                    <a:lumOff val="60000"/>
                  </a:schemeClr>
                </a:solidFill>
                <a:latin typeface="Bahnschrift" panose="020B0502040204020203" pitchFamily="34" charset="0"/>
              </a:rPr>
              <a:t>Density+</a:t>
            </a:r>
            <a:r>
              <a:rPr lang="el-GR" dirty="0">
                <a:solidFill>
                  <a:schemeClr val="accent5">
                    <a:lumMod val="40000"/>
                    <a:lumOff val="60000"/>
                  </a:schemeClr>
                </a:solidFill>
                <a:latin typeface="Bahnschrift" panose="020B0502040204020203" pitchFamily="34" charset="0"/>
              </a:rPr>
              <a:t>β5​</a:t>
            </a:r>
            <a:r>
              <a:rPr lang="en-US" dirty="0">
                <a:solidFill>
                  <a:schemeClr val="accent5">
                    <a:lumMod val="40000"/>
                    <a:lumOff val="60000"/>
                  </a:schemeClr>
                </a:solidFill>
                <a:latin typeface="Bahnschrift" panose="020B0502040204020203" pitchFamily="34" charset="0"/>
              </a:rPr>
              <a:t>Capital+</a:t>
            </a:r>
            <a:r>
              <a:rPr lang="el-GR" dirty="0" smtClean="0">
                <a:solidFill>
                  <a:schemeClr val="accent5">
                    <a:lumMod val="40000"/>
                    <a:lumOff val="60000"/>
                  </a:schemeClr>
                </a:solidFill>
                <a:latin typeface="Bahnschrift" panose="020B0502040204020203" pitchFamily="34" charset="0"/>
              </a:rPr>
              <a:t>ϵ</a:t>
            </a:r>
            <a:endParaRPr lang="en-US" dirty="0" smtClean="0">
              <a:solidFill>
                <a:schemeClr val="accent5">
                  <a:lumMod val="40000"/>
                  <a:lumOff val="60000"/>
                </a:schemeClr>
              </a:solidFill>
              <a:latin typeface="Bahnschrift" panose="020B0502040204020203" pitchFamily="34" charset="0"/>
            </a:endParaRPr>
          </a:p>
          <a:p>
            <a:r>
              <a:rPr lang="en-US" dirty="0">
                <a:latin typeface="Bahnschrift" panose="020B0502040204020203" pitchFamily="34" charset="0"/>
              </a:rPr>
              <a:t>Capital regions often benefit from agglomeration economies, better infrastructure, and higher job concentration, which may lead to systematically different unemployment outcomes. </a:t>
            </a:r>
            <a:endParaRPr lang="en-US" dirty="0" smtClean="0">
              <a:latin typeface="Bahnschrift" panose="020B0502040204020203" pitchFamily="34" charset="0"/>
            </a:endParaRPr>
          </a:p>
          <a:p>
            <a:r>
              <a:rPr lang="en-US" dirty="0" smtClean="0">
                <a:latin typeface="Bahnschrift" panose="020B0502040204020203" pitchFamily="34" charset="0"/>
              </a:rPr>
              <a:t>By </a:t>
            </a:r>
            <a:r>
              <a:rPr lang="en-US" dirty="0">
                <a:latin typeface="Bahnschrift" panose="020B0502040204020203" pitchFamily="34" charset="0"/>
              </a:rPr>
              <a:t>including the dummy variable, the model tests whether capital regions exhibit distinct unemployment levels compared to other regions, after controlling for economic development, education, employment, and population density.</a:t>
            </a:r>
            <a:endParaRPr lang="en-US" dirty="0">
              <a:solidFill>
                <a:schemeClr val="accent5">
                  <a:lumMod val="40000"/>
                  <a:lumOff val="60000"/>
                </a:schemeClr>
              </a:solidFill>
              <a:latin typeface="Bahnschrift" panose="020B0502040204020203" pitchFamily="34" charset="0"/>
            </a:endParaRPr>
          </a:p>
        </p:txBody>
      </p:sp>
    </p:spTree>
    <p:extLst>
      <p:ext uri="{BB962C8B-B14F-4D97-AF65-F5344CB8AC3E}">
        <p14:creationId xmlns:p14="http://schemas.microsoft.com/office/powerpoint/2010/main" val="2448555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8883" y="274638"/>
            <a:ext cx="10360501" cy="886554"/>
          </a:xfrm>
        </p:spPr>
        <p:txBody>
          <a:bodyPr/>
          <a:lstStyle/>
          <a:p>
            <a:r>
              <a:rPr lang="en-US" dirty="0" smtClean="0">
                <a:latin typeface="Bahnschrift" panose="020B0502040204020203" pitchFamily="34" charset="0"/>
              </a:rPr>
              <a:t>4. Results – Model 1 (without dummy)</a:t>
            </a:r>
            <a:endParaRPr lang="en-US" dirty="0">
              <a:latin typeface="Bahnschrift" panose="020B0502040204020203" pitchFamily="34" charset="0"/>
            </a:endParaRPr>
          </a:p>
        </p:txBody>
      </p:sp>
      <p:sp>
        <p:nvSpPr>
          <p:cNvPr id="3" name="Content Placeholder 2"/>
          <p:cNvSpPr>
            <a:spLocks noGrp="1"/>
          </p:cNvSpPr>
          <p:nvPr>
            <p:ph idx="1"/>
          </p:nvPr>
        </p:nvSpPr>
        <p:spPr>
          <a:xfrm>
            <a:off x="765820" y="4077073"/>
            <a:ext cx="11305255" cy="2664296"/>
          </a:xfrm>
        </p:spPr>
        <p:txBody>
          <a:bodyPr>
            <a:normAutofit fontScale="85000" lnSpcReduction="20000"/>
          </a:bodyPr>
          <a:lstStyle/>
          <a:p>
            <a:r>
              <a:rPr lang="en-US" dirty="0">
                <a:latin typeface="Bahnschrift" panose="020B0502040204020203" pitchFamily="34" charset="0"/>
              </a:rPr>
              <a:t>The model is statistically significant overall (F-test, p &lt; 0.001</a:t>
            </a:r>
            <a:r>
              <a:rPr lang="en-US" dirty="0" smtClean="0">
                <a:latin typeface="Bahnschrift" panose="020B0502040204020203" pitchFamily="34" charset="0"/>
              </a:rPr>
              <a:t>)</a:t>
            </a:r>
          </a:p>
          <a:p>
            <a:r>
              <a:rPr lang="en-US" dirty="0" smtClean="0">
                <a:latin typeface="Bahnschrift" panose="020B0502040204020203" pitchFamily="34" charset="0"/>
              </a:rPr>
              <a:t>Employment rate has a negative and statistically significant effect on unemployment</a:t>
            </a:r>
          </a:p>
          <a:p>
            <a:r>
              <a:rPr lang="en-US" dirty="0" smtClean="0">
                <a:latin typeface="Bahnschrift" panose="020B0502040204020203" pitchFamily="34" charset="0"/>
              </a:rPr>
              <a:t>GDP per capita, education and population </a:t>
            </a:r>
            <a:r>
              <a:rPr lang="en-US" dirty="0" err="1" smtClean="0">
                <a:latin typeface="Bahnschrift" panose="020B0502040204020203" pitchFamily="34" charset="0"/>
              </a:rPr>
              <a:t>densitiy</a:t>
            </a:r>
            <a:r>
              <a:rPr lang="en-US" dirty="0" smtClean="0">
                <a:latin typeface="Bahnschrift" panose="020B0502040204020203" pitchFamily="34" charset="0"/>
              </a:rPr>
              <a:t> are not statistically significant once labor market conditions are controlled for</a:t>
            </a:r>
          </a:p>
          <a:p>
            <a:r>
              <a:rPr lang="en-US" dirty="0" smtClean="0">
                <a:latin typeface="Bahnschrift" panose="020B0502040204020203" pitchFamily="34" charset="0"/>
              </a:rPr>
              <a:t>Hence, regions with higher employment rate tend to have lower unemployment, holding other factors constant</a:t>
            </a:r>
            <a:endParaRPr lang="en-US" dirty="0">
              <a:latin typeface="Bahnschrift" panose="020B0502040204020203" pitchFamily="34" charset="0"/>
            </a:endParaRPr>
          </a:p>
        </p:txBody>
      </p:sp>
      <p:pic>
        <p:nvPicPr>
          <p:cNvPr id="6" name="Picture 5"/>
          <p:cNvPicPr>
            <a:picLocks noChangeAspect="1"/>
          </p:cNvPicPr>
          <p:nvPr/>
        </p:nvPicPr>
        <p:blipFill>
          <a:blip r:embed="rId2"/>
          <a:stretch>
            <a:fillRect/>
          </a:stretch>
        </p:blipFill>
        <p:spPr>
          <a:xfrm>
            <a:off x="1773932" y="1161192"/>
            <a:ext cx="6668431" cy="2648320"/>
          </a:xfrm>
          <a:prstGeom prst="rect">
            <a:avLst/>
          </a:prstGeom>
        </p:spPr>
      </p:pic>
    </p:spTree>
    <p:extLst>
      <p:ext uri="{BB962C8B-B14F-4D97-AF65-F5344CB8AC3E}">
        <p14:creationId xmlns:p14="http://schemas.microsoft.com/office/powerpoint/2010/main" val="975343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8883" y="274637"/>
            <a:ext cx="10360501" cy="850107"/>
          </a:xfrm>
        </p:spPr>
        <p:txBody>
          <a:bodyPr/>
          <a:lstStyle/>
          <a:p>
            <a:r>
              <a:rPr lang="en-US" dirty="0" smtClean="0">
                <a:latin typeface="Bahnschrift" panose="020B0502040204020203" pitchFamily="34" charset="0"/>
              </a:rPr>
              <a:t>4. Results – Model 2 ( with Capital Dummy)</a:t>
            </a:r>
            <a:endParaRPr lang="en-US" dirty="0">
              <a:latin typeface="Bahnschrift" panose="020B0502040204020203" pitchFamily="34" charset="0"/>
            </a:endParaRPr>
          </a:p>
        </p:txBody>
      </p:sp>
      <p:sp>
        <p:nvSpPr>
          <p:cNvPr id="3" name="Content Placeholder 2"/>
          <p:cNvSpPr>
            <a:spLocks noGrp="1"/>
          </p:cNvSpPr>
          <p:nvPr>
            <p:ph idx="1"/>
          </p:nvPr>
        </p:nvSpPr>
        <p:spPr>
          <a:xfrm>
            <a:off x="765820" y="4005064"/>
            <a:ext cx="11305256" cy="2736304"/>
          </a:xfrm>
        </p:spPr>
        <p:txBody>
          <a:bodyPr>
            <a:normAutofit fontScale="85000" lnSpcReduction="20000"/>
          </a:bodyPr>
          <a:lstStyle/>
          <a:p>
            <a:r>
              <a:rPr lang="en-US" dirty="0" smtClean="0">
                <a:latin typeface="Bahnschrift" panose="020B0502040204020203" pitchFamily="34" charset="0"/>
              </a:rPr>
              <a:t>Including the dummy increases the </a:t>
            </a:r>
            <a:r>
              <a:rPr lang="en-US" dirty="0">
                <a:latin typeface="Bahnschrift" panose="020B0502040204020203" pitchFamily="34" charset="0"/>
              </a:rPr>
              <a:t>adjusted </a:t>
            </a:r>
            <a:r>
              <a:rPr lang="en-US" dirty="0" smtClean="0">
                <a:latin typeface="Bahnschrift" panose="020B0502040204020203" pitchFamily="34" charset="0"/>
              </a:rPr>
              <a:t>R² (from 0.53 to 0.57)</a:t>
            </a:r>
          </a:p>
          <a:p>
            <a:r>
              <a:rPr lang="en-US" dirty="0" smtClean="0">
                <a:latin typeface="Bahnschrift" panose="020B0502040204020203" pitchFamily="34" charset="0"/>
              </a:rPr>
              <a:t>Employment rate remains the most significant determinant of unemployment</a:t>
            </a:r>
          </a:p>
          <a:p>
            <a:r>
              <a:rPr lang="en-US" dirty="0" smtClean="0">
                <a:latin typeface="Bahnschrift" panose="020B0502040204020203" pitchFamily="34" charset="0"/>
              </a:rPr>
              <a:t>The dummy is weakly significant in the standard model and highly significant when using robust standard errors</a:t>
            </a:r>
          </a:p>
          <a:p>
            <a:r>
              <a:rPr lang="en-US" dirty="0" smtClean="0">
                <a:latin typeface="Bahnschrift" panose="020B0502040204020203" pitchFamily="34" charset="0"/>
              </a:rPr>
              <a:t>Therefore, capital regions exhibit structural differences in unemployment outcomes compared to non-capital regions, even after controlling for economic and labor market characteristics</a:t>
            </a:r>
          </a:p>
          <a:p>
            <a:endParaRPr lang="en-US" dirty="0" smtClean="0">
              <a:latin typeface="Bahnschrift" panose="020B0502040204020203" pitchFamily="34" charset="0"/>
            </a:endParaRPr>
          </a:p>
        </p:txBody>
      </p:sp>
      <p:pic>
        <p:nvPicPr>
          <p:cNvPr id="4" name="Picture 3"/>
          <p:cNvPicPr>
            <a:picLocks noChangeAspect="1"/>
          </p:cNvPicPr>
          <p:nvPr/>
        </p:nvPicPr>
        <p:blipFill>
          <a:blip r:embed="rId2"/>
          <a:stretch>
            <a:fillRect/>
          </a:stretch>
        </p:blipFill>
        <p:spPr>
          <a:xfrm>
            <a:off x="1845940" y="1124744"/>
            <a:ext cx="6601746" cy="2734057"/>
          </a:xfrm>
          <a:prstGeom prst="rect">
            <a:avLst/>
          </a:prstGeom>
        </p:spPr>
      </p:pic>
    </p:spTree>
    <p:extLst>
      <p:ext uri="{BB962C8B-B14F-4D97-AF65-F5344CB8AC3E}">
        <p14:creationId xmlns:p14="http://schemas.microsoft.com/office/powerpoint/2010/main" val="3376156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panose="020B0502040204020203" pitchFamily="34" charset="0"/>
              </a:rPr>
              <a:t>4.1. Model Diagnostics - Normality</a:t>
            </a:r>
            <a:endParaRPr lang="en-US" dirty="0">
              <a:latin typeface="Bahnschrift" panose="020B0502040204020203" pitchFamily="34" charset="0"/>
            </a:endParaRPr>
          </a:p>
        </p:txBody>
      </p:sp>
      <p:sp>
        <p:nvSpPr>
          <p:cNvPr id="5" name="Content Placeholder 4"/>
          <p:cNvSpPr>
            <a:spLocks noGrp="1"/>
          </p:cNvSpPr>
          <p:nvPr>
            <p:ph idx="1"/>
          </p:nvPr>
        </p:nvSpPr>
        <p:spPr>
          <a:xfrm>
            <a:off x="1218883" y="1700808"/>
            <a:ext cx="10360501" cy="4462272"/>
          </a:xfrm>
        </p:spPr>
        <p:txBody>
          <a:bodyPr/>
          <a:lstStyle/>
          <a:p>
            <a:endParaRPr lang="en-US" dirty="0" smtClean="0">
              <a:latin typeface="Bahnschrift" panose="020B0502040204020203" pitchFamily="34" charset="0"/>
            </a:endParaRPr>
          </a:p>
          <a:p>
            <a:endParaRPr lang="en-US" dirty="0" smtClean="0">
              <a:latin typeface="Bahnschrift" panose="020B0502040204020203" pitchFamily="34" charset="0"/>
            </a:endParaRPr>
          </a:p>
          <a:p>
            <a:endParaRPr lang="en-US" dirty="0">
              <a:latin typeface="Bahnschrift" panose="020B0502040204020203" pitchFamily="34" charset="0"/>
            </a:endParaRPr>
          </a:p>
          <a:p>
            <a:r>
              <a:rPr lang="en-US" dirty="0" smtClean="0">
                <a:latin typeface="Bahnschrift" panose="020B0502040204020203" pitchFamily="34" charset="0"/>
              </a:rPr>
              <a:t>p-value &gt; 0.05</a:t>
            </a:r>
          </a:p>
          <a:p>
            <a:r>
              <a:rPr lang="en-US" dirty="0" smtClean="0">
                <a:latin typeface="Bahnschrift" panose="020B0502040204020203" pitchFamily="34" charset="0"/>
              </a:rPr>
              <a:t>We do not reject the null hypothesis of normality</a:t>
            </a:r>
          </a:p>
          <a:p>
            <a:r>
              <a:rPr lang="en-US" dirty="0" smtClean="0">
                <a:latin typeface="Bahnschrift" panose="020B0502040204020203" pitchFamily="34" charset="0"/>
              </a:rPr>
              <a:t>Therefore, the residuals are approximately normally distributed and normality assumption is satisfied</a:t>
            </a:r>
            <a:endParaRPr lang="en-US" dirty="0">
              <a:latin typeface="Bahnschrift" panose="020B0502040204020203" pitchFamily="34" charset="0"/>
            </a:endParaRPr>
          </a:p>
        </p:txBody>
      </p:sp>
      <p:pic>
        <p:nvPicPr>
          <p:cNvPr id="6" name="Picture 5"/>
          <p:cNvPicPr>
            <a:picLocks noChangeAspect="1"/>
          </p:cNvPicPr>
          <p:nvPr/>
        </p:nvPicPr>
        <p:blipFill>
          <a:blip r:embed="rId2"/>
          <a:stretch>
            <a:fillRect/>
          </a:stretch>
        </p:blipFill>
        <p:spPr>
          <a:xfrm>
            <a:off x="1218883" y="1844824"/>
            <a:ext cx="4650868" cy="1296144"/>
          </a:xfrm>
          <a:prstGeom prst="rect">
            <a:avLst/>
          </a:prstGeom>
        </p:spPr>
      </p:pic>
    </p:spTree>
    <p:extLst>
      <p:ext uri="{BB962C8B-B14F-4D97-AF65-F5344CB8AC3E}">
        <p14:creationId xmlns:p14="http://schemas.microsoft.com/office/powerpoint/2010/main" val="4020895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panose="020B0502040204020203" pitchFamily="34" charset="0"/>
              </a:rPr>
              <a:t>4.1. Model Diagnostics - Homoscedasticity</a:t>
            </a:r>
            <a:endParaRPr lang="en-US" dirty="0">
              <a:latin typeface="Bahnschrift" panose="020B0502040204020203" pitchFamily="34" charset="0"/>
            </a:endParaRPr>
          </a:p>
        </p:txBody>
      </p:sp>
      <p:sp>
        <p:nvSpPr>
          <p:cNvPr id="3" name="Content Placeholder 2"/>
          <p:cNvSpPr>
            <a:spLocks noGrp="1"/>
          </p:cNvSpPr>
          <p:nvPr>
            <p:ph idx="1"/>
          </p:nvPr>
        </p:nvSpPr>
        <p:spPr>
          <a:xfrm>
            <a:off x="1218882" y="1681744"/>
            <a:ext cx="10360501" cy="4462272"/>
          </a:xfrm>
        </p:spPr>
        <p:txBody>
          <a:bodyPr/>
          <a:lstStyle/>
          <a:p>
            <a:endParaRPr lang="en-US" dirty="0" smtClean="0">
              <a:latin typeface="Bahnschrift" panose="020B0502040204020203" pitchFamily="34" charset="0"/>
            </a:endParaRPr>
          </a:p>
          <a:p>
            <a:endParaRPr lang="en-US" dirty="0">
              <a:latin typeface="Bahnschrift" panose="020B0502040204020203" pitchFamily="34" charset="0"/>
            </a:endParaRPr>
          </a:p>
          <a:p>
            <a:endParaRPr lang="en-US" dirty="0" smtClean="0">
              <a:latin typeface="Bahnschrift" panose="020B0502040204020203" pitchFamily="34" charset="0"/>
            </a:endParaRPr>
          </a:p>
          <a:p>
            <a:r>
              <a:rPr lang="en-US" dirty="0" smtClean="0">
                <a:latin typeface="Bahnschrift" panose="020B0502040204020203" pitchFamily="34" charset="0"/>
              </a:rPr>
              <a:t>p-value &gt; 0.05</a:t>
            </a:r>
          </a:p>
          <a:p>
            <a:r>
              <a:rPr lang="en-US" dirty="0" smtClean="0">
                <a:latin typeface="Bahnschrift" panose="020B0502040204020203" pitchFamily="34" charset="0"/>
              </a:rPr>
              <a:t>We do not </a:t>
            </a:r>
            <a:r>
              <a:rPr lang="en-US" dirty="0">
                <a:latin typeface="Bahnschrift" panose="020B0502040204020203" pitchFamily="34" charset="0"/>
              </a:rPr>
              <a:t>detect </a:t>
            </a:r>
            <a:r>
              <a:rPr lang="en-US" dirty="0" smtClean="0">
                <a:latin typeface="Bahnschrift" panose="020B0502040204020203" pitchFamily="34" charset="0"/>
              </a:rPr>
              <a:t>heteroscedasticity</a:t>
            </a:r>
          </a:p>
          <a:p>
            <a:r>
              <a:rPr lang="en-US" dirty="0" smtClean="0">
                <a:latin typeface="Bahnschrift" panose="020B0502040204020203" pitchFamily="34" charset="0"/>
              </a:rPr>
              <a:t>It proves the variance of the residuals is constant across observations and homoscedasticity assumption is satisfied</a:t>
            </a:r>
          </a:p>
          <a:p>
            <a:endParaRPr lang="en-US" dirty="0" smtClean="0">
              <a:latin typeface="Bahnschrift" panose="020B0502040204020203" pitchFamily="34" charset="0"/>
            </a:endParaRPr>
          </a:p>
        </p:txBody>
      </p:sp>
      <p:pic>
        <p:nvPicPr>
          <p:cNvPr id="4" name="Picture 3"/>
          <p:cNvPicPr>
            <a:picLocks noChangeAspect="1"/>
          </p:cNvPicPr>
          <p:nvPr/>
        </p:nvPicPr>
        <p:blipFill>
          <a:blip r:embed="rId2"/>
          <a:stretch>
            <a:fillRect/>
          </a:stretch>
        </p:blipFill>
        <p:spPr>
          <a:xfrm>
            <a:off x="1218882" y="1844824"/>
            <a:ext cx="5638605" cy="1315208"/>
          </a:xfrm>
          <a:prstGeom prst="rect">
            <a:avLst/>
          </a:prstGeom>
        </p:spPr>
      </p:pic>
    </p:spTree>
    <p:extLst>
      <p:ext uri="{BB962C8B-B14F-4D97-AF65-F5344CB8AC3E}">
        <p14:creationId xmlns:p14="http://schemas.microsoft.com/office/powerpoint/2010/main" val="2635941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panose="020B0502040204020203" pitchFamily="34" charset="0"/>
              </a:rPr>
              <a:t>4.1. Model Diagnostics - Autocorrelation</a:t>
            </a:r>
            <a:endParaRPr lang="en-US" dirty="0">
              <a:latin typeface="Bahnschrift" panose="020B0502040204020203" pitchFamily="34" charset="0"/>
            </a:endParaRPr>
          </a:p>
        </p:txBody>
      </p:sp>
      <p:sp>
        <p:nvSpPr>
          <p:cNvPr id="3" name="Content Placeholder 2"/>
          <p:cNvSpPr>
            <a:spLocks noGrp="1"/>
          </p:cNvSpPr>
          <p:nvPr>
            <p:ph idx="1"/>
          </p:nvPr>
        </p:nvSpPr>
        <p:spPr>
          <a:xfrm>
            <a:off x="1218883" y="1700808"/>
            <a:ext cx="10360501" cy="4462272"/>
          </a:xfrm>
        </p:spPr>
        <p:txBody>
          <a:bodyPr/>
          <a:lstStyle/>
          <a:p>
            <a:endParaRPr lang="en-US" dirty="0" smtClean="0">
              <a:latin typeface="Bahnschrift" panose="020B0502040204020203" pitchFamily="34" charset="0"/>
            </a:endParaRPr>
          </a:p>
          <a:p>
            <a:endParaRPr lang="en-US" dirty="0">
              <a:latin typeface="Bahnschrift" panose="020B0502040204020203" pitchFamily="34" charset="0"/>
            </a:endParaRPr>
          </a:p>
          <a:p>
            <a:endParaRPr lang="en-US" dirty="0" smtClean="0">
              <a:latin typeface="Bahnschrift" panose="020B0502040204020203" pitchFamily="34" charset="0"/>
            </a:endParaRPr>
          </a:p>
          <a:p>
            <a:r>
              <a:rPr lang="en-US" dirty="0" smtClean="0">
                <a:latin typeface="Bahnschrift" panose="020B0502040204020203" pitchFamily="34" charset="0"/>
              </a:rPr>
              <a:t>DW slightly below 2</a:t>
            </a:r>
          </a:p>
          <a:p>
            <a:r>
              <a:rPr lang="en-US" dirty="0" smtClean="0">
                <a:latin typeface="Bahnschrift" panose="020B0502040204020203" pitchFamily="34" charset="0"/>
              </a:rPr>
              <a:t>p-value slightly above 0.05</a:t>
            </a:r>
          </a:p>
          <a:p>
            <a:r>
              <a:rPr lang="en-US" dirty="0" smtClean="0">
                <a:latin typeface="Bahnschrift" panose="020B0502040204020203" pitchFamily="34" charset="0"/>
              </a:rPr>
              <a:t>We have mild DW deviations, which is common in cross-sectional data.</a:t>
            </a:r>
            <a:endParaRPr lang="en-US" dirty="0">
              <a:latin typeface="Bahnschrift" panose="020B0502040204020203" pitchFamily="34" charset="0"/>
            </a:endParaRPr>
          </a:p>
        </p:txBody>
      </p:sp>
      <p:pic>
        <p:nvPicPr>
          <p:cNvPr id="6" name="Picture 5"/>
          <p:cNvPicPr>
            <a:picLocks noChangeAspect="1"/>
          </p:cNvPicPr>
          <p:nvPr/>
        </p:nvPicPr>
        <p:blipFill>
          <a:blip r:embed="rId2"/>
          <a:stretch>
            <a:fillRect/>
          </a:stretch>
        </p:blipFill>
        <p:spPr>
          <a:xfrm>
            <a:off x="1218883" y="1772816"/>
            <a:ext cx="6975011" cy="1296144"/>
          </a:xfrm>
          <a:prstGeom prst="rect">
            <a:avLst/>
          </a:prstGeom>
        </p:spPr>
      </p:pic>
    </p:spTree>
    <p:extLst>
      <p:ext uri="{BB962C8B-B14F-4D97-AF65-F5344CB8AC3E}">
        <p14:creationId xmlns:p14="http://schemas.microsoft.com/office/powerpoint/2010/main" val="2193030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panose="020B0502040204020203" pitchFamily="34" charset="0"/>
              </a:rPr>
              <a:t>4.1. Model Diagnostics - Multicollinearity</a:t>
            </a:r>
            <a:endParaRPr lang="en-US" dirty="0">
              <a:latin typeface="Bahnschrift" panose="020B0502040204020203" pitchFamily="34" charset="0"/>
            </a:endParaRPr>
          </a:p>
        </p:txBody>
      </p:sp>
      <p:sp>
        <p:nvSpPr>
          <p:cNvPr id="3" name="Content Placeholder 2"/>
          <p:cNvSpPr>
            <a:spLocks noGrp="1"/>
          </p:cNvSpPr>
          <p:nvPr>
            <p:ph idx="1"/>
          </p:nvPr>
        </p:nvSpPr>
        <p:spPr/>
        <p:txBody>
          <a:bodyPr/>
          <a:lstStyle/>
          <a:p>
            <a:endParaRPr lang="en-US" dirty="0">
              <a:latin typeface="Bahnschrift" panose="020B0502040204020203" pitchFamily="34" charset="0"/>
            </a:endParaRPr>
          </a:p>
          <a:p>
            <a:endParaRPr lang="en-US" dirty="0">
              <a:latin typeface="Bahnschrift" panose="020B0502040204020203" pitchFamily="34" charset="0"/>
            </a:endParaRPr>
          </a:p>
          <a:p>
            <a:endParaRPr lang="en-US" dirty="0">
              <a:latin typeface="Bahnschrift" panose="020B0502040204020203" pitchFamily="34" charset="0"/>
            </a:endParaRPr>
          </a:p>
          <a:p>
            <a:r>
              <a:rPr lang="en-US" dirty="0" smtClean="0">
                <a:latin typeface="Bahnschrift" panose="020B0502040204020203" pitchFamily="34" charset="0"/>
              </a:rPr>
              <a:t>All VIF &lt; 10, one variables close to 6</a:t>
            </a:r>
          </a:p>
          <a:p>
            <a:r>
              <a:rPr lang="en-US" dirty="0" smtClean="0">
                <a:latin typeface="Bahnschrift" panose="020B0502040204020203" pitchFamily="34" charset="0"/>
              </a:rPr>
              <a:t>Some correlation, expected in </a:t>
            </a:r>
            <a:r>
              <a:rPr lang="en-US" dirty="0" err="1" smtClean="0">
                <a:latin typeface="Bahnschrift" panose="020B0502040204020203" pitchFamily="34" charset="0"/>
              </a:rPr>
              <a:t>reginonal</a:t>
            </a:r>
            <a:r>
              <a:rPr lang="en-US" dirty="0" smtClean="0">
                <a:latin typeface="Bahnschrift" panose="020B0502040204020203" pitchFamily="34" charset="0"/>
              </a:rPr>
              <a:t> data, but no severe multicollinearity problem</a:t>
            </a:r>
          </a:p>
          <a:p>
            <a:r>
              <a:rPr lang="en-US" dirty="0" smtClean="0">
                <a:latin typeface="Bahnschrift" panose="020B0502040204020203" pitchFamily="34" charset="0"/>
              </a:rPr>
              <a:t>This explains why GDP and Education are not significant, because their effects overlap with </a:t>
            </a:r>
            <a:r>
              <a:rPr lang="en-US" dirty="0" err="1" smtClean="0">
                <a:latin typeface="Bahnschrift" panose="020B0502040204020203" pitchFamily="34" charset="0"/>
              </a:rPr>
              <a:t>EmploymentRate</a:t>
            </a:r>
            <a:r>
              <a:rPr lang="en-US" dirty="0" smtClean="0">
                <a:latin typeface="Bahnschrift" panose="020B0502040204020203" pitchFamily="34" charset="0"/>
              </a:rPr>
              <a:t>.</a:t>
            </a:r>
            <a:endParaRPr lang="en-US" dirty="0">
              <a:latin typeface="Bahnschrift" panose="020B0502040204020203" pitchFamily="34" charset="0"/>
            </a:endParaRPr>
          </a:p>
        </p:txBody>
      </p:sp>
      <p:pic>
        <p:nvPicPr>
          <p:cNvPr id="4" name="Picture 3"/>
          <p:cNvPicPr>
            <a:picLocks noChangeAspect="1"/>
          </p:cNvPicPr>
          <p:nvPr/>
        </p:nvPicPr>
        <p:blipFill>
          <a:blip r:embed="rId2"/>
          <a:stretch>
            <a:fillRect/>
          </a:stretch>
        </p:blipFill>
        <p:spPr>
          <a:xfrm>
            <a:off x="1218883" y="1736222"/>
            <a:ext cx="5434145" cy="1386490"/>
          </a:xfrm>
          <a:prstGeom prst="rect">
            <a:avLst/>
          </a:prstGeom>
        </p:spPr>
      </p:pic>
    </p:spTree>
    <p:extLst>
      <p:ext uri="{BB962C8B-B14F-4D97-AF65-F5344CB8AC3E}">
        <p14:creationId xmlns:p14="http://schemas.microsoft.com/office/powerpoint/2010/main" val="55483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panose="020B0502040204020203" pitchFamily="34" charset="0"/>
              </a:rPr>
              <a:t>5. Conclusions</a:t>
            </a:r>
            <a:endParaRPr lang="en-US" dirty="0">
              <a:latin typeface="Bahnschrift" panose="020B0502040204020203" pitchFamily="34" charset="0"/>
            </a:endParaRPr>
          </a:p>
        </p:txBody>
      </p:sp>
      <p:sp>
        <p:nvSpPr>
          <p:cNvPr id="3" name="Content Placeholder 2"/>
          <p:cNvSpPr>
            <a:spLocks noGrp="1"/>
          </p:cNvSpPr>
          <p:nvPr>
            <p:ph idx="1"/>
          </p:nvPr>
        </p:nvSpPr>
        <p:spPr/>
        <p:txBody>
          <a:bodyPr>
            <a:normAutofit fontScale="92500"/>
          </a:bodyPr>
          <a:lstStyle/>
          <a:p>
            <a:r>
              <a:rPr lang="en-US" dirty="0">
                <a:latin typeface="Bahnschrift" panose="020B0502040204020203" pitchFamily="34" charset="0"/>
              </a:rPr>
              <a:t>Comparing the two models shows that including the capital region dummy improves the model’s explanatory power, indicating that regional unemployment differences are partly driven by structural factors specific to capital regions.</a:t>
            </a:r>
          </a:p>
          <a:p>
            <a:r>
              <a:rPr lang="en-US" dirty="0">
                <a:latin typeface="Bahnschrift" panose="020B0502040204020203" pitchFamily="34" charset="0"/>
              </a:rPr>
              <a:t>While several economic and educational variables are included, the results suggest that labor market conditions play a more central role in explaining unemployment disparities across regions.</a:t>
            </a:r>
          </a:p>
          <a:p>
            <a:r>
              <a:rPr lang="en-US" dirty="0">
                <a:latin typeface="Bahnschrift" panose="020B0502040204020203" pitchFamily="34" charset="0"/>
              </a:rPr>
              <a:t>Overall, the findings confirm that regional unemployment cannot be explained by a single factor, but by the combined effect of labor market performance and regional structural characteristics.</a:t>
            </a:r>
          </a:p>
        </p:txBody>
      </p:sp>
    </p:spTree>
    <p:extLst>
      <p:ext uri="{BB962C8B-B14F-4D97-AF65-F5344CB8AC3E}">
        <p14:creationId xmlns:p14="http://schemas.microsoft.com/office/powerpoint/2010/main" val="146648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panose="020B0502040204020203" pitchFamily="34" charset="0"/>
              </a:rPr>
              <a:t>6. Limitations and Future Research</a:t>
            </a:r>
            <a:endParaRPr lang="en-US" dirty="0">
              <a:latin typeface="Bahnschrift" panose="020B0502040204020203" pitchFamily="34" charset="0"/>
            </a:endParaRPr>
          </a:p>
        </p:txBody>
      </p:sp>
      <p:sp>
        <p:nvSpPr>
          <p:cNvPr id="3" name="Content Placeholder 2"/>
          <p:cNvSpPr>
            <a:spLocks noGrp="1"/>
          </p:cNvSpPr>
          <p:nvPr>
            <p:ph idx="1"/>
          </p:nvPr>
        </p:nvSpPr>
        <p:spPr/>
        <p:txBody>
          <a:bodyPr>
            <a:normAutofit/>
          </a:bodyPr>
          <a:lstStyle/>
          <a:p>
            <a:r>
              <a:rPr lang="en-US" b="1" dirty="0">
                <a:latin typeface="Bahnschrift" panose="020B0502040204020203" pitchFamily="34" charset="0"/>
              </a:rPr>
              <a:t>Limitations:</a:t>
            </a:r>
            <a:endParaRPr lang="en-US" dirty="0">
              <a:latin typeface="Bahnschrift" panose="020B0502040204020203" pitchFamily="34" charset="0"/>
            </a:endParaRPr>
          </a:p>
          <a:p>
            <a:pPr lvl="1"/>
            <a:r>
              <a:rPr lang="en-US" dirty="0">
                <a:latin typeface="Bahnschrift" panose="020B0502040204020203" pitchFamily="34" charset="0"/>
              </a:rPr>
              <a:t>Small sample size </a:t>
            </a:r>
            <a:endParaRPr lang="en-US" dirty="0" smtClean="0">
              <a:latin typeface="Bahnschrift" panose="020B0502040204020203" pitchFamily="34" charset="0"/>
            </a:endParaRPr>
          </a:p>
          <a:p>
            <a:pPr lvl="1"/>
            <a:r>
              <a:rPr lang="en-US" dirty="0" smtClean="0">
                <a:latin typeface="Bahnschrift" panose="020B0502040204020203" pitchFamily="34" charset="0"/>
              </a:rPr>
              <a:t>Cross-sectional </a:t>
            </a:r>
            <a:r>
              <a:rPr lang="en-US" dirty="0">
                <a:latin typeface="Bahnschrift" panose="020B0502040204020203" pitchFamily="34" charset="0"/>
              </a:rPr>
              <a:t>data only</a:t>
            </a:r>
          </a:p>
          <a:p>
            <a:pPr lvl="1"/>
            <a:r>
              <a:rPr lang="en-US" dirty="0">
                <a:latin typeface="Bahnschrift" panose="020B0502040204020203" pitchFamily="34" charset="0"/>
              </a:rPr>
              <a:t>Limited set of explanatory variables</a:t>
            </a:r>
          </a:p>
          <a:p>
            <a:r>
              <a:rPr lang="en-US" b="1" dirty="0">
                <a:latin typeface="Bahnschrift" panose="020B0502040204020203" pitchFamily="34" charset="0"/>
              </a:rPr>
              <a:t>Future Research:</a:t>
            </a:r>
            <a:endParaRPr lang="en-US" dirty="0">
              <a:latin typeface="Bahnschrift" panose="020B0502040204020203" pitchFamily="34" charset="0"/>
            </a:endParaRPr>
          </a:p>
          <a:p>
            <a:pPr lvl="1"/>
            <a:r>
              <a:rPr lang="en-US" dirty="0">
                <a:latin typeface="Bahnschrift" panose="020B0502040204020203" pitchFamily="34" charset="0"/>
              </a:rPr>
              <a:t>Include more regions and time periods</a:t>
            </a:r>
          </a:p>
          <a:p>
            <a:pPr lvl="1"/>
            <a:r>
              <a:rPr lang="en-US" dirty="0">
                <a:latin typeface="Bahnschrift" panose="020B0502040204020203" pitchFamily="34" charset="0"/>
              </a:rPr>
              <a:t>Use panel data models</a:t>
            </a:r>
          </a:p>
          <a:p>
            <a:pPr lvl="1"/>
            <a:r>
              <a:rPr lang="en-US" dirty="0">
                <a:latin typeface="Bahnschrift" panose="020B0502040204020203" pitchFamily="34" charset="0"/>
              </a:rPr>
              <a:t>Incorporate additional variables (e.g., FDI, industrial structure</a:t>
            </a:r>
            <a:r>
              <a:rPr lang="en-US" dirty="0" smtClean="0">
                <a:latin typeface="Bahnschrift" panose="020B0502040204020203" pitchFamily="34" charset="0"/>
              </a:rPr>
              <a:t>)</a:t>
            </a:r>
            <a:endParaRPr lang="en-US" dirty="0">
              <a:latin typeface="Bahnschrift" panose="020B0502040204020203" pitchFamily="34" charset="0"/>
            </a:endParaRPr>
          </a:p>
        </p:txBody>
      </p:sp>
    </p:spTree>
    <p:extLst>
      <p:ext uri="{BB962C8B-B14F-4D97-AF65-F5344CB8AC3E}">
        <p14:creationId xmlns:p14="http://schemas.microsoft.com/office/powerpoint/2010/main" val="1795688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panose="020B0502040204020203" pitchFamily="34" charset="0"/>
              </a:rPr>
              <a:t>7. References</a:t>
            </a:r>
            <a:endParaRPr lang="en-US" dirty="0">
              <a:latin typeface="Bahnschrift" panose="020B0502040204020203" pitchFamily="34" charset="0"/>
            </a:endParaRPr>
          </a:p>
        </p:txBody>
      </p:sp>
      <p:sp>
        <p:nvSpPr>
          <p:cNvPr id="3" name="Content Placeholder 2"/>
          <p:cNvSpPr>
            <a:spLocks noGrp="1"/>
          </p:cNvSpPr>
          <p:nvPr>
            <p:ph idx="1"/>
          </p:nvPr>
        </p:nvSpPr>
        <p:spPr/>
        <p:txBody>
          <a:bodyPr>
            <a:normAutofit lnSpcReduction="10000"/>
          </a:bodyPr>
          <a:lstStyle/>
          <a:p>
            <a:r>
              <a:rPr lang="en-US" dirty="0" err="1">
                <a:latin typeface="Bahnschrift" panose="020B0502040204020203" pitchFamily="34" charset="0"/>
              </a:rPr>
              <a:t>Elhorst</a:t>
            </a:r>
            <a:r>
              <a:rPr lang="en-US" dirty="0">
                <a:latin typeface="Bahnschrift" panose="020B0502040204020203" pitchFamily="34" charset="0"/>
              </a:rPr>
              <a:t>, J.P. (2003). </a:t>
            </a:r>
            <a:r>
              <a:rPr lang="en-US" i="1" dirty="0">
                <a:latin typeface="Bahnschrift" panose="020B0502040204020203" pitchFamily="34" charset="0"/>
              </a:rPr>
              <a:t>Regional </a:t>
            </a:r>
            <a:r>
              <a:rPr lang="en-US" i="1" dirty="0" err="1">
                <a:latin typeface="Bahnschrift" panose="020B0502040204020203" pitchFamily="34" charset="0"/>
              </a:rPr>
              <a:t>Labour</a:t>
            </a:r>
            <a:r>
              <a:rPr lang="en-US" i="1" dirty="0">
                <a:latin typeface="Bahnschrift" panose="020B0502040204020203" pitchFamily="34" charset="0"/>
              </a:rPr>
              <a:t> Market Analysis</a:t>
            </a:r>
            <a:r>
              <a:rPr lang="en-US" dirty="0">
                <a:latin typeface="Bahnschrift" panose="020B0502040204020203" pitchFamily="34" charset="0"/>
              </a:rPr>
              <a:t>.</a:t>
            </a:r>
          </a:p>
          <a:p>
            <a:r>
              <a:rPr lang="en-US" dirty="0" err="1">
                <a:latin typeface="Bahnschrift" panose="020B0502040204020203" pitchFamily="34" charset="0"/>
              </a:rPr>
              <a:t>Iancu</a:t>
            </a:r>
            <a:r>
              <a:rPr lang="en-US" dirty="0">
                <a:latin typeface="Bahnschrift" panose="020B0502040204020203" pitchFamily="34" charset="0"/>
              </a:rPr>
              <a:t>, A. (2012). </a:t>
            </a:r>
            <a:r>
              <a:rPr lang="en-US" i="1" dirty="0">
                <a:latin typeface="Bahnschrift" panose="020B0502040204020203" pitchFamily="34" charset="0"/>
              </a:rPr>
              <a:t>Economic Transition and Regional Disparities</a:t>
            </a:r>
            <a:r>
              <a:rPr lang="en-US" dirty="0">
                <a:latin typeface="Bahnschrift" panose="020B0502040204020203" pitchFamily="34" charset="0"/>
              </a:rPr>
              <a:t>.</a:t>
            </a:r>
          </a:p>
          <a:p>
            <a:r>
              <a:rPr lang="en-US" dirty="0">
                <a:latin typeface="Bahnschrift" panose="020B0502040204020203" pitchFamily="34" charset="0"/>
              </a:rPr>
              <a:t>Mincer, J. (1974). </a:t>
            </a:r>
            <a:r>
              <a:rPr lang="en-US" i="1" dirty="0">
                <a:latin typeface="Bahnschrift" panose="020B0502040204020203" pitchFamily="34" charset="0"/>
              </a:rPr>
              <a:t>Schooling, Experience, and Earnings</a:t>
            </a:r>
            <a:r>
              <a:rPr lang="en-US" dirty="0">
                <a:latin typeface="Bahnschrift" panose="020B0502040204020203" pitchFamily="34" charset="0"/>
              </a:rPr>
              <a:t>.</a:t>
            </a:r>
          </a:p>
          <a:p>
            <a:r>
              <a:rPr lang="en-US" dirty="0">
                <a:latin typeface="Bahnschrift" panose="020B0502040204020203" pitchFamily="34" charset="0"/>
              </a:rPr>
              <a:t>Krugman, P. (1991). </a:t>
            </a:r>
            <a:r>
              <a:rPr lang="en-US" i="1" dirty="0">
                <a:latin typeface="Bahnschrift" panose="020B0502040204020203" pitchFamily="34" charset="0"/>
              </a:rPr>
              <a:t>Geography and Trade</a:t>
            </a:r>
            <a:r>
              <a:rPr lang="en-US" dirty="0">
                <a:latin typeface="Bahnschrift" panose="020B0502040204020203" pitchFamily="34" charset="0"/>
              </a:rPr>
              <a:t>.</a:t>
            </a:r>
          </a:p>
          <a:p>
            <a:r>
              <a:rPr lang="en-US" dirty="0" err="1">
                <a:latin typeface="Bahnschrift" panose="020B0502040204020203" pitchFamily="34" charset="0"/>
              </a:rPr>
              <a:t>Capello</a:t>
            </a:r>
            <a:r>
              <a:rPr lang="en-US" dirty="0">
                <a:latin typeface="Bahnschrift" panose="020B0502040204020203" pitchFamily="34" charset="0"/>
              </a:rPr>
              <a:t>, R. (2014). </a:t>
            </a:r>
            <a:r>
              <a:rPr lang="en-US" i="1" dirty="0">
                <a:latin typeface="Bahnschrift" panose="020B0502040204020203" pitchFamily="34" charset="0"/>
              </a:rPr>
              <a:t>Regional Economics</a:t>
            </a:r>
            <a:r>
              <a:rPr lang="en-US" dirty="0">
                <a:latin typeface="Bahnschrift" panose="020B0502040204020203" pitchFamily="34" charset="0"/>
              </a:rPr>
              <a:t>.</a:t>
            </a:r>
          </a:p>
          <a:p>
            <a:r>
              <a:rPr lang="en-US" dirty="0" err="1">
                <a:latin typeface="Bahnschrift" panose="020B0502040204020203" pitchFamily="34" charset="0"/>
              </a:rPr>
              <a:t>Marelli</a:t>
            </a:r>
            <a:r>
              <a:rPr lang="en-US" dirty="0">
                <a:latin typeface="Bahnschrift" panose="020B0502040204020203" pitchFamily="34" charset="0"/>
              </a:rPr>
              <a:t>, E., et al. (2012). </a:t>
            </a:r>
            <a:r>
              <a:rPr lang="en-US" i="1" dirty="0">
                <a:latin typeface="Bahnschrift" panose="020B0502040204020203" pitchFamily="34" charset="0"/>
              </a:rPr>
              <a:t>Education and Regional Unemployment</a:t>
            </a:r>
            <a:r>
              <a:rPr lang="en-US" dirty="0">
                <a:latin typeface="Bahnschrift" panose="020B0502040204020203" pitchFamily="34" charset="0"/>
              </a:rPr>
              <a:t>.</a:t>
            </a:r>
          </a:p>
          <a:p>
            <a:r>
              <a:rPr lang="en-US" dirty="0">
                <a:latin typeface="Bahnschrift" panose="020B0502040204020203" pitchFamily="34" charset="0"/>
              </a:rPr>
              <a:t>Eurostat database.</a:t>
            </a:r>
          </a:p>
        </p:txBody>
      </p:sp>
    </p:spTree>
    <p:extLst>
      <p:ext uri="{BB962C8B-B14F-4D97-AF65-F5344CB8AC3E}">
        <p14:creationId xmlns:p14="http://schemas.microsoft.com/office/powerpoint/2010/main" val="214020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0C67BEE-D13F-4BD2-98A5-34D8A0977F68}">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4873beb7-5857-4685-be1f-d57550cc96cc"/>
    <ds:schemaRef ds:uri="http://www.w3.org/XML/1998/namespace"/>
    <ds:schemaRef ds:uri="http://purl.org/dc/dcmitype/"/>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676</TotalTime>
  <Words>1233</Words>
  <Application>Microsoft Office PowerPoint</Application>
  <PresentationFormat>Custom</PresentationFormat>
  <Paragraphs>129</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Bahnschrift</vt:lpstr>
      <vt:lpstr>Calibri</vt:lpstr>
      <vt:lpstr>Times New Roman</vt:lpstr>
      <vt:lpstr>Tech 16x9</vt:lpstr>
      <vt:lpstr>Determinants of Regional Unemployment in EU NUTS2 Regions</vt:lpstr>
      <vt:lpstr>1. Introduction</vt:lpstr>
      <vt:lpstr>2. Literature Review</vt:lpstr>
      <vt:lpstr>2. Literature Review</vt:lpstr>
      <vt:lpstr>3. Methodology - Data and Sample</vt:lpstr>
      <vt:lpstr>3. Methodology - Variable Definiton</vt:lpstr>
      <vt:lpstr>3. Methodology - Variable Definiton</vt:lpstr>
      <vt:lpstr>3. Methodology - Descriptive Statistics</vt:lpstr>
      <vt:lpstr>3. Methodology - Regression Models Definition</vt:lpstr>
      <vt:lpstr>3. Methodology - Regression Models Definition </vt:lpstr>
      <vt:lpstr>4. Results – Model 1 (without dummy)</vt:lpstr>
      <vt:lpstr>4. Results – Model 2 ( with Capital Dummy)</vt:lpstr>
      <vt:lpstr>4.1. Model Diagnostics - Normality</vt:lpstr>
      <vt:lpstr>4.1. Model Diagnostics - Homoscedasticity</vt:lpstr>
      <vt:lpstr>4.1. Model Diagnostics - Autocorrelation</vt:lpstr>
      <vt:lpstr>4.1. Model Diagnostics - Multicollinearity</vt:lpstr>
      <vt:lpstr>5. Conclusions</vt:lpstr>
      <vt:lpstr>6. Limitations and Future Research</vt:lpstr>
      <vt:lpstr>7. References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Determinants of Regional Unemployment in EU NUTS2 Regions</dc:title>
  <dc:creator>Microsoft account</dc:creator>
  <cp:lastModifiedBy>Microsoft account</cp:lastModifiedBy>
  <cp:revision>37</cp:revision>
  <dcterms:created xsi:type="dcterms:W3CDTF">2026-01-03T13:02:37Z</dcterms:created>
  <dcterms:modified xsi:type="dcterms:W3CDTF">2026-01-05T17:05:34Z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